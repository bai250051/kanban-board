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6ba9f845-9579-ac45-dd35-6061ddf47c29}">
          <p14:sldIdLst>
            <p14:sldId id="256"/>
          </p14:sldIdLst>
        </p14:section>
        <p14:section name="Kết quả" id="{54a7268b-bc36-7147-36a9-0a497d55decc}">
          <p14:sldIdLst>
            <p14:sldId id="257"/>
            <p14:sldId id="258"/>
            <p14:sldId id="259"/>
            <p14:sldId id="260"/>
            <p14:sldId id="261"/>
            <p14:sldId id="262"/>
            <p14:sldId id="263"/>
            <p14:sldId id="264"/>
            <p14:sldId id="265"/>
          </p14:sldIdLst>
        </p14:section>
        <p14:section name="Đánh giá" id="{1909f2a0-8ece-c749-0cd4-c8ffe4c23d6e}">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giới thiệu Kanban Board, ứng dụng quản lý công việc cá nhân và nhóm. Sprint 3 tổng hợp toàn bộ những gì đã làm được đến hiện tại.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nhóm chức năng chính của Sprint 3: quản lý công việc, kế hoạch cá nhân, làm việc nhóm, nhập liệu thông minh bằng giọng nói, nhắc nhở và hỗ trợ học tập. Các slide sau lần lượt trình bày từng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thẻ có hạn, mức ưu tiên, checklist, nhãn màu, tệp đính kèm và bình luận. Người dùng tự thêm, đổi tên, đổi màu cột. Kéo thả để đổi cột hoặc đổi thứ tự thẻ, có nút Hoàn tác khi xóa hoặc kéo nhầm.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cá nhân là thời khóa biểu tuần: mỗi cột là một ngày, mỗi hàng là một trạng thái. Ngày hôm nay được phóng to và tô màu vàng. Dải Lịch cố định chứa các buổi lặp lại như tiết học, có thể nghỉ hoặc chỉnh giờ riêng từng buổi.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dùng nói hoặc gõ một câu. Hệ thống tách ra tên môn, địa điểm, giờ bắt đầu và kết thúc, quy tắc lặp và khoảng ngày, rồi mở cửa sổ xác nhận đã điền sẵn. Chỉ lưu khi người dùng bấm Lưu lịch. Nhận giọng nói cần Chrome hoặc Edge; nếu không có micro thì gõ câu vào ô Thêm từ câu.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nhóm tách riêng với bảng cá nhân. Trưởng nhóm tạo liên kết mời, người nhận đăng nhập và bấm Tham gia. Mỗi thẻ gắn người phụ trách; trong bình luận gõ @ để nhắc tên thành viên. Hạn chế hiện tại: chưa có máy chủ nên liên kết mời chỉ sao chép bảng tại thời điểm mời.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dùng chuyển linh hoạt giữa ba cách xem nhưng luôn giữ 3 cột Cần làm, Đang làm, Hoàn thành. Theo sprint: xem tiến độ từng giai đoạn, kéo thẻ vào ô sprint để chuyển sprint, có nút kết thúc sprint. Theo người: mỗi thành viên một dải, kéo thẻ sang dải khác để giao lại việc.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Chuông thông báo gom việc quá hạn, sắp đến hạn và lần được nhắc tên. Với việc quá hạn, bấm Đã hoàn thành để chuyển thẻ sang cột hoàn thành, hoặc Chưa hoàn thành để giữ nguyên. Mỗi ngày mới hệ thống hỏi dời hạn các việc chưa xong. Xuất file .ics để nhập vào Google Calendar nếu muốn nhắc cả khi đóng trang.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dùng nhập trọng số và điểm các đầu điểm, đặt điểm tổng kết mong muốn. Ví dụ: chuyên cần 10, tự học 8, bài tập 9, giữa kỳ 5, mong muốn 7 thì điểm tối đa là 8.6 và cuối kỳ cần từ 6 điểm. Có quy đổi điểm chữ và thang 4 (có A+), bảng quy đổi người dùng tự chỉnh theo quy chế trường.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thống kê cho biết tỷ lệ hoàn thành, việc quá hạn, công việc theo cột, mức ưu tiên, tiến độ theo sprint và theo từng thành viên. Ứng dụng có giao diện sáng và tối, đồng hồ giờ Việt Nam, kéo thả bằng cảm ứng trên điện thoại.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chức năng đã được kiểm thử bằng trình duyệt tự động: tạo, sửa, xóa, kéo thả, tính điểm, nhắc hạn, mời tham gia, lưu dữ liệu sau khi tải lại. Hạn chế lớn nhất là chưa có máy chủ nên nhóm chưa thật sự dùng chung dữ liệu; đăng nhập cũng chỉ là bản mô phỏng. Chưa thử trên điện thoại thật và micro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việc tiếp theo: sao lưu và khôi phục dữ liệu bằng file, kiểm thử trên điện thoại và micro thật, và thêm máy chủ để đồng bộ nhóm thật, đăng nhập an toàn, nhắc việc khi đã đóng trang.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184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840"/>
          </a:solidFill>
          <a:ln/>
        </p:spPr>
      </p:sp>
      <p:sp>
        <p:nvSpPr>
          <p:cNvPr id="3" name="Text 1"/>
          <p:cNvSpPr/>
          <p:nvPr>
            <p:ph idx="101" type="title" hasCustomPrompt="1"/>
          </p:nvPr>
        </p:nvSpPr>
        <p:spPr>
          <a:xfrm>
            <a:off x="548640" y="1234440"/>
            <a:ext cx="4206240" cy="1463040"/>
          </a:xfrm>
          <a:prstGeom prst="rect">
            <a:avLst/>
          </a:prstGeom>
          <a:noFill/>
          <a:ln/>
        </p:spPr>
        <p:txBody>
          <a:bodyPr wrap="square" rtlCol="0"/>
          <a:lstStyle>
            <a:lvl1pPr algn="l" indent="0" marL="0">
              <a:buNone/>
              <a:defRPr lang="en-US" sz="4600" b="1" dirty="0">
                <a:solidFill>
                  <a:srgbClr val="FFFFFF"/>
                </a:solidFill>
              </a:defRPr>
            </a:lvl1pPr>
          </a:lstStyle>
          <a:p>
            <a:pPr algn="l" indent="0" marL="0">
              <a:buNone/>
            </a:pPr>
            <a:endParaRPr lang="en-US" sz="4600" dirty="0"/>
          </a:p>
        </p:txBody>
      </p:sp>
      <p:sp>
        <p:nvSpPr>
          <p:cNvPr id="4" name="Text 1"/>
          <p:cNvSpPr/>
          <p:nvPr>
            <p:ph idx="102" type="body" hasCustomPrompt="1"/>
          </p:nvPr>
        </p:nvSpPr>
        <p:spPr>
          <a:xfrm>
            <a:off x="548640" y="2880360"/>
            <a:ext cx="4023360" cy="914400"/>
          </a:xfrm>
          <a:prstGeom prst="rect">
            <a:avLst/>
          </a:prstGeom>
          <a:noFill/>
          <a:ln/>
        </p:spPr>
        <p:txBody>
          <a:bodyPr wrap="square" rtlCol="0"/>
          <a:lstStyle>
            <a:lvl1pPr algn="l" indent="0" marL="0">
              <a:buNone/>
              <a:defRPr lang="en-US" sz="1800" dirty="0">
                <a:solidFill>
                  <a:srgbClr val="CFCBF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457200" y="4773168"/>
            <a:ext cx="4572000" cy="274320"/>
          </a:xfrm>
          <a:prstGeom prst="rect">
            <a:avLst/>
          </a:prstGeom>
          <a:noFill/>
          <a:ln/>
        </p:spPr>
        <p:txBody>
          <a:bodyPr wrap="square" lIns="0" tIns="0" rIns="0" bIns="0" rtlCol="0" anchor="ctr"/>
          <a:lstStyle/>
          <a:p>
            <a:pPr indent="0" marL="0">
              <a:buNone/>
            </a:pPr>
            <a:r>
              <a:rPr lang="en-US" sz="1000" dirty="0">
                <a:solidFill>
                  <a:srgbClr val="5B6482"/>
                </a:solidFill>
              </a:rPr>
              <a:t>Kanban Board · Báo cáo Sprint 3</a:t>
            </a:r>
            <a:endParaRPr lang="en-US" sz="10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8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B256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1234440"/>
            <a:ext cx="4206240" cy="1463040"/>
          </a:xfrm>
          <a:prstGeom prst="rect">
            <a:avLst/>
          </a:prstGeom>
          <a:noFill/>
          <a:ln/>
        </p:spPr>
        <p:txBody>
          <a:bodyPr wrap="square" lIns="0" tIns="0" rIns="0" bIns="0" rtlCol="0" anchor="t"/>
          <a:lstStyle/>
          <a:p>
            <a:pPr algn="l" indent="0" marL="0">
              <a:buNone/>
            </a:pPr>
            <a:r>
              <a:rPr lang="en-US" sz="4600" b="1" dirty="0">
                <a:solidFill>
                  <a:srgbClr val="FFFFFF"/>
                </a:solidFill>
              </a:rPr>
              <a:t>Kanban Board</a:t>
            </a:r>
            <a:endParaRPr lang="en-US" sz="4600" dirty="0"/>
          </a:p>
        </p:txBody>
      </p:sp>
      <p:sp>
        <p:nvSpPr>
          <p:cNvPr id="3" name="Text 1"/>
          <p:cNvSpPr/>
          <p:nvPr>
            <p:ph idx="102" type="body" hasCustomPrompt="1"/>
          </p:nvPr>
        </p:nvSpPr>
        <p:spPr>
          <a:xfrm>
            <a:off x="548640" y="2880360"/>
            <a:ext cx="4023360" cy="914400"/>
          </a:xfrm>
          <a:prstGeom prst="rect">
            <a:avLst/>
          </a:prstGeom>
          <a:noFill/>
          <a:ln/>
        </p:spPr>
        <p:txBody>
          <a:bodyPr wrap="square" lIns="0" tIns="0" rIns="0" bIns="0" rtlCol="0" anchor="t"/>
          <a:lstStyle/>
          <a:p>
            <a:pPr algn="l" indent="0" marL="0">
              <a:buNone/>
            </a:pPr>
            <a:r>
              <a:rPr lang="en-US" sz="1800" dirty="0">
                <a:solidFill>
                  <a:srgbClr val="CFCBF5"/>
                </a:solidFill>
              </a:rPr>
              <a:t>Báo cáo Sprint 3</a:t>
            </a:r>
            <a:endParaRPr lang="en-US" sz="1800" dirty="0"/>
          </a:p>
          <a:p>
            <a:pPr algn="l" indent="0" marL="0">
              <a:buNone/>
            </a:pPr>
            <a:r>
              <a:rPr lang="en-US" sz="1800" dirty="0">
                <a:solidFill>
                  <a:srgbClr val="CFCBF5"/>
                </a:solidFill>
              </a:rPr>
              <a:t>Quản lý công việc cá nhân và nhóm</a:t>
            </a:r>
            <a:endParaRPr lang="en-US" sz="1800" dirty="0"/>
          </a:p>
        </p:txBody>
      </p:sp>
      <p:sp>
        <p:nvSpPr>
          <p:cNvPr id="4" name="Khung ảnh bìa"/>
          <p:cNvSpPr/>
          <p:nvPr/>
        </p:nvSpPr>
        <p:spPr>
          <a:xfrm>
            <a:off x="4800600" y="868680"/>
            <a:ext cx="3931920" cy="2578608"/>
          </a:xfrm>
          <a:prstGeom prst="roundRect">
            <a:avLst>
              <a:gd name="adj" fmla="val 4255"/>
            </a:avLst>
          </a:prstGeom>
          <a:solidFill>
            <a:srgbClr val="2B2563"/>
          </a:solidFill>
          <a:ln w="12700">
            <a:solidFill>
              <a:srgbClr val="6759E8"/>
            </a:solidFill>
            <a:prstDash val="solid"/>
          </a:ln>
          <a:effectLst>
            <a:outerShdw sx="100000" sy="100000" kx="0" ky="0" algn="bl" rotWithShape="0" blurRad="177800" dist="50800" dir="5400000">
              <a:srgbClr val="000000">
                <a:alpha val="40000"/>
              </a:srgbClr>
            </a:outerShdw>
          </a:effectLst>
        </p:spPr>
      </p:sp>
      <p:pic>
        <p:nvPicPr>
          <p:cNvPr id="5" name="Ảnh bìa ứng dụng" descr="Giao diện thời khóa biểu tuần ở chế độ tối">    </p:cNvPr>
          <p:cNvPicPr>
            <a:picLocks noChangeAspect="1"/>
          </p:cNvPicPr>
          <p:nvPr/>
        </p:nvPicPr>
        <p:blipFill>
          <a:blip r:embed="rId1"/>
          <a:stretch>
            <a:fillRect/>
          </a:stretch>
        </p:blipFill>
        <p:spPr>
          <a:xfrm>
            <a:off x="4855464" y="923544"/>
            <a:ext cx="3822192" cy="23865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1"/>
                </a:solidFill>
              </a:rPr>
              <a:t>Những gì đã làm được</a:t>
            </a:r>
            <a:endParaRPr lang="en-US" sz="3600" dirty="0"/>
          </a:p>
        </p:txBody>
      </p:sp>
      <p:sp>
        <p:nvSpPr>
          <p:cNvPr id="3" name="Thẻ Công việc"/>
          <p:cNvSpPr/>
          <p:nvPr/>
        </p:nvSpPr>
        <p:spPr>
          <a:xfrm>
            <a:off x="457200" y="1234440"/>
            <a:ext cx="2606040" cy="1508760"/>
          </a:xfrm>
          <a:prstGeom prst="roundRect">
            <a:avLst>
              <a:gd name="adj" fmla="val 7273"/>
            </a:avLst>
          </a:prstGeom>
          <a:solidFill>
            <a:schemeClr val="bg1"/>
          </a:solidFill>
          <a:ln w="9525">
            <a:solidFill>
              <a:srgbClr val="E4E2F4"/>
            </a:solidFill>
            <a:prstDash val="solid"/>
          </a:ln>
          <a:effectLst>
            <a:outerShdw sx="100000" sy="100000" kx="0" ky="0" algn="bl" rotWithShape="0" blurRad="101600" dist="25400" dir="5400000">
              <a:srgbClr val="1B1840">
                <a:alpha val="12000"/>
              </a:srgbClr>
            </a:outerShdw>
          </a:effectLst>
        </p:spPr>
      </p:sp>
      <p:sp>
        <p:nvSpPr>
          <p:cNvPr id="4" name="Vòng Công việc"/>
          <p:cNvSpPr/>
          <p:nvPr/>
        </p:nvSpPr>
        <p:spPr>
          <a:xfrm>
            <a:off x="685800" y="1463040"/>
            <a:ext cx="640080" cy="640080"/>
          </a:xfrm>
          <a:prstGeom prst="ellipse">
            <a:avLst/>
          </a:prstGeom>
          <a:solidFill>
            <a:srgbClr val="6759E8"/>
          </a:solidFill>
          <a:ln w="12700">
            <a:solidFill>
              <a:srgbClr val="6759E8"/>
            </a:solidFill>
            <a:prstDash val="solid"/>
          </a:ln>
        </p:spPr>
      </p:sp>
      <p:pic>
        <p:nvPicPr>
          <p:cNvPr id="5" name="Biểu tượng Công việc" descr="Công việc">    </p:cNvPr>
          <p:cNvPicPr>
            <a:picLocks noChangeAspect="1"/>
          </p:cNvPicPr>
          <p:nvPr/>
        </p:nvPicPr>
        <p:blipFill>
          <a:blip r:embed="rId1"/>
          <a:stretch>
            <a:fillRect/>
          </a:stretch>
        </p:blipFill>
        <p:spPr>
          <a:xfrm>
            <a:off x="850392" y="1627632"/>
            <a:ext cx="310896" cy="310896"/>
          </a:xfrm>
          <a:prstGeom prst="rect">
            <a:avLst/>
          </a:prstGeom>
        </p:spPr>
      </p:pic>
      <p:sp>
        <p:nvSpPr>
          <p:cNvPr id="6" name="Tên Công việc"/>
          <p:cNvSpPr txBox="1"/>
          <p:nvPr/>
        </p:nvSpPr>
        <p:spPr>
          <a:xfrm>
            <a:off x="685800" y="2148840"/>
            <a:ext cx="2194560" cy="274320"/>
          </a:xfrm>
          <a:prstGeom prst="rect">
            <a:avLst/>
          </a:prstGeom>
          <a:noFill/>
          <a:ln/>
        </p:spPr>
        <p:txBody>
          <a:bodyPr wrap="square" lIns="0" tIns="0" rIns="0" bIns="0" rtlCol="0" anchor="ctr"/>
          <a:lstStyle/>
          <a:p>
            <a:pPr indent="0" marL="0">
              <a:buNone/>
            </a:pPr>
            <a:r>
              <a:rPr lang="en-US" sz="1800" b="1" dirty="0">
                <a:solidFill>
                  <a:schemeClr val="tx1"/>
                </a:solidFill>
              </a:rPr>
              <a:t>Công việc</a:t>
            </a:r>
            <a:endParaRPr lang="en-US" sz="1800" dirty="0"/>
          </a:p>
        </p:txBody>
      </p:sp>
      <p:sp>
        <p:nvSpPr>
          <p:cNvPr id="7" name="Mô tả Công việc"/>
          <p:cNvSpPr txBox="1"/>
          <p:nvPr/>
        </p:nvSpPr>
        <p:spPr>
          <a:xfrm>
            <a:off x="685800" y="2423160"/>
            <a:ext cx="2194560" cy="256032"/>
          </a:xfrm>
          <a:prstGeom prst="rect">
            <a:avLst/>
          </a:prstGeom>
          <a:noFill/>
          <a:ln/>
        </p:spPr>
        <p:txBody>
          <a:bodyPr wrap="square" lIns="0" tIns="0" rIns="0" bIns="0" rtlCol="0" anchor="ctr"/>
          <a:lstStyle/>
          <a:p>
            <a:pPr indent="0" marL="0">
              <a:buNone/>
            </a:pPr>
            <a:r>
              <a:rPr lang="en-US" sz="1400" dirty="0">
                <a:solidFill>
                  <a:srgbClr val="5B6482"/>
                </a:solidFill>
              </a:rPr>
              <a:t>Thẻ, checklist, nhãn, file</a:t>
            </a:r>
            <a:endParaRPr lang="en-US" sz="1400" dirty="0"/>
          </a:p>
        </p:txBody>
      </p:sp>
      <p:sp>
        <p:nvSpPr>
          <p:cNvPr id="8" name="Thẻ Kế hoạch cá nhân"/>
          <p:cNvSpPr/>
          <p:nvPr/>
        </p:nvSpPr>
        <p:spPr>
          <a:xfrm>
            <a:off x="3246120" y="1234440"/>
            <a:ext cx="2606040" cy="1508760"/>
          </a:xfrm>
          <a:prstGeom prst="roundRect">
            <a:avLst>
              <a:gd name="adj" fmla="val 7273"/>
            </a:avLst>
          </a:prstGeom>
          <a:solidFill>
            <a:schemeClr val="bg1"/>
          </a:solidFill>
          <a:ln w="9525">
            <a:solidFill>
              <a:srgbClr val="E4E2F4"/>
            </a:solidFill>
            <a:prstDash val="solid"/>
          </a:ln>
          <a:effectLst>
            <a:outerShdw sx="100000" sy="100000" kx="0" ky="0" algn="bl" rotWithShape="0" blurRad="101600" dist="25400" dir="5400000">
              <a:srgbClr val="1B1840">
                <a:alpha val="12000"/>
              </a:srgbClr>
            </a:outerShdw>
          </a:effectLst>
        </p:spPr>
      </p:sp>
      <p:sp>
        <p:nvSpPr>
          <p:cNvPr id="9" name="Vòng Kế hoạch cá nhân"/>
          <p:cNvSpPr/>
          <p:nvPr/>
        </p:nvSpPr>
        <p:spPr>
          <a:xfrm>
            <a:off x="3474720" y="1463040"/>
            <a:ext cx="640080" cy="640080"/>
          </a:xfrm>
          <a:prstGeom prst="ellipse">
            <a:avLst/>
          </a:prstGeom>
          <a:solidFill>
            <a:srgbClr val="3C8D9C"/>
          </a:solidFill>
          <a:ln w="12700">
            <a:solidFill>
              <a:srgbClr val="3C8D9C"/>
            </a:solidFill>
            <a:prstDash val="solid"/>
          </a:ln>
        </p:spPr>
      </p:sp>
      <p:pic>
        <p:nvPicPr>
          <p:cNvPr id="10" name="Biểu tượng Kế hoạch cá nhân" descr="Kế hoạch cá nhân">    </p:cNvPr>
          <p:cNvPicPr>
            <a:picLocks noChangeAspect="1"/>
          </p:cNvPicPr>
          <p:nvPr/>
        </p:nvPicPr>
        <p:blipFill>
          <a:blip r:embed="rId2"/>
          <a:stretch>
            <a:fillRect/>
          </a:stretch>
        </p:blipFill>
        <p:spPr>
          <a:xfrm>
            <a:off x="3639312" y="1627632"/>
            <a:ext cx="310896" cy="310896"/>
          </a:xfrm>
          <a:prstGeom prst="rect">
            <a:avLst/>
          </a:prstGeom>
        </p:spPr>
      </p:pic>
      <p:sp>
        <p:nvSpPr>
          <p:cNvPr id="11" name="Tên Kế hoạch cá nhân"/>
          <p:cNvSpPr txBox="1"/>
          <p:nvPr/>
        </p:nvSpPr>
        <p:spPr>
          <a:xfrm>
            <a:off x="3474720" y="2148840"/>
            <a:ext cx="2194560" cy="274320"/>
          </a:xfrm>
          <a:prstGeom prst="rect">
            <a:avLst/>
          </a:prstGeom>
          <a:noFill/>
          <a:ln/>
        </p:spPr>
        <p:txBody>
          <a:bodyPr wrap="square" lIns="0" tIns="0" rIns="0" bIns="0" rtlCol="0" anchor="ctr"/>
          <a:lstStyle/>
          <a:p>
            <a:pPr indent="0" marL="0">
              <a:buNone/>
            </a:pPr>
            <a:r>
              <a:rPr lang="en-US" sz="1800" b="1" dirty="0">
                <a:solidFill>
                  <a:schemeClr val="tx1"/>
                </a:solidFill>
              </a:rPr>
              <a:t>Kế hoạch cá nhân</a:t>
            </a:r>
            <a:endParaRPr lang="en-US" sz="1800" dirty="0"/>
          </a:p>
        </p:txBody>
      </p:sp>
      <p:sp>
        <p:nvSpPr>
          <p:cNvPr id="12" name="Mô tả Kế hoạch cá nhân"/>
          <p:cNvSpPr txBox="1"/>
          <p:nvPr/>
        </p:nvSpPr>
        <p:spPr>
          <a:xfrm>
            <a:off x="3474720" y="2423160"/>
            <a:ext cx="2194560" cy="256032"/>
          </a:xfrm>
          <a:prstGeom prst="rect">
            <a:avLst/>
          </a:prstGeom>
          <a:noFill/>
          <a:ln/>
        </p:spPr>
        <p:txBody>
          <a:bodyPr wrap="square" lIns="0" tIns="0" rIns="0" bIns="0" rtlCol="0" anchor="ctr"/>
          <a:lstStyle/>
          <a:p>
            <a:pPr indent="0" marL="0">
              <a:buNone/>
            </a:pPr>
            <a:r>
              <a:rPr lang="en-US" sz="1400" dirty="0">
                <a:solidFill>
                  <a:srgbClr val="5B6482"/>
                </a:solidFill>
              </a:rPr>
              <a:t>Thời khóa biểu tuần</a:t>
            </a:r>
            <a:endParaRPr lang="en-US" sz="1400" dirty="0"/>
          </a:p>
        </p:txBody>
      </p:sp>
      <p:sp>
        <p:nvSpPr>
          <p:cNvPr id="13" name="Thẻ Làm việc nhóm"/>
          <p:cNvSpPr/>
          <p:nvPr/>
        </p:nvSpPr>
        <p:spPr>
          <a:xfrm>
            <a:off x="6035040" y="1234440"/>
            <a:ext cx="2606040" cy="1508760"/>
          </a:xfrm>
          <a:prstGeom prst="roundRect">
            <a:avLst>
              <a:gd name="adj" fmla="val 7273"/>
            </a:avLst>
          </a:prstGeom>
          <a:solidFill>
            <a:schemeClr val="bg1"/>
          </a:solidFill>
          <a:ln w="9525">
            <a:solidFill>
              <a:srgbClr val="E4E2F4"/>
            </a:solidFill>
            <a:prstDash val="solid"/>
          </a:ln>
          <a:effectLst>
            <a:outerShdw sx="100000" sy="100000" kx="0" ky="0" algn="bl" rotWithShape="0" blurRad="101600" dist="25400" dir="5400000">
              <a:srgbClr val="1B1840">
                <a:alpha val="12000"/>
              </a:srgbClr>
            </a:outerShdw>
          </a:effectLst>
        </p:spPr>
      </p:sp>
      <p:sp>
        <p:nvSpPr>
          <p:cNvPr id="14" name="Vòng Làm việc nhóm"/>
          <p:cNvSpPr/>
          <p:nvPr/>
        </p:nvSpPr>
        <p:spPr>
          <a:xfrm>
            <a:off x="6263640" y="1463040"/>
            <a:ext cx="640080" cy="640080"/>
          </a:xfrm>
          <a:prstGeom prst="ellipse">
            <a:avLst/>
          </a:prstGeom>
          <a:solidFill>
            <a:srgbClr val="1C9B72"/>
          </a:solidFill>
          <a:ln w="12700">
            <a:solidFill>
              <a:srgbClr val="1C9B72"/>
            </a:solidFill>
            <a:prstDash val="solid"/>
          </a:ln>
        </p:spPr>
      </p:sp>
      <p:pic>
        <p:nvPicPr>
          <p:cNvPr id="15" name="Biểu tượng Làm việc nhóm" descr="Làm việc nhóm">    </p:cNvPr>
          <p:cNvPicPr>
            <a:picLocks noChangeAspect="1"/>
          </p:cNvPicPr>
          <p:nvPr/>
        </p:nvPicPr>
        <p:blipFill>
          <a:blip r:embed="rId3"/>
          <a:stretch>
            <a:fillRect/>
          </a:stretch>
        </p:blipFill>
        <p:spPr>
          <a:xfrm>
            <a:off x="6428232" y="1627632"/>
            <a:ext cx="310896" cy="310896"/>
          </a:xfrm>
          <a:prstGeom prst="rect">
            <a:avLst/>
          </a:prstGeom>
        </p:spPr>
      </p:pic>
      <p:sp>
        <p:nvSpPr>
          <p:cNvPr id="16" name="Tên Làm việc nhóm"/>
          <p:cNvSpPr txBox="1"/>
          <p:nvPr/>
        </p:nvSpPr>
        <p:spPr>
          <a:xfrm>
            <a:off x="6263640" y="2148840"/>
            <a:ext cx="2194560" cy="274320"/>
          </a:xfrm>
          <a:prstGeom prst="rect">
            <a:avLst/>
          </a:prstGeom>
          <a:noFill/>
          <a:ln/>
        </p:spPr>
        <p:txBody>
          <a:bodyPr wrap="square" lIns="0" tIns="0" rIns="0" bIns="0" rtlCol="0" anchor="ctr"/>
          <a:lstStyle/>
          <a:p>
            <a:pPr indent="0" marL="0">
              <a:buNone/>
            </a:pPr>
            <a:r>
              <a:rPr lang="en-US" sz="1800" b="1" dirty="0">
                <a:solidFill>
                  <a:schemeClr val="tx1"/>
                </a:solidFill>
              </a:rPr>
              <a:t>Làm việc nhóm</a:t>
            </a:r>
            <a:endParaRPr lang="en-US" sz="1800" dirty="0"/>
          </a:p>
        </p:txBody>
      </p:sp>
      <p:sp>
        <p:nvSpPr>
          <p:cNvPr id="17" name="Mô tả Làm việc nhóm"/>
          <p:cNvSpPr txBox="1"/>
          <p:nvPr/>
        </p:nvSpPr>
        <p:spPr>
          <a:xfrm>
            <a:off x="6263640" y="2423160"/>
            <a:ext cx="2194560" cy="256032"/>
          </a:xfrm>
          <a:prstGeom prst="rect">
            <a:avLst/>
          </a:prstGeom>
          <a:noFill/>
          <a:ln/>
        </p:spPr>
        <p:txBody>
          <a:bodyPr wrap="square" lIns="0" tIns="0" rIns="0" bIns="0" rtlCol="0" anchor="ctr"/>
          <a:lstStyle/>
          <a:p>
            <a:pPr indent="0" marL="0">
              <a:buNone/>
            </a:pPr>
            <a:r>
              <a:rPr lang="en-US" sz="1400" dirty="0">
                <a:solidFill>
                  <a:srgbClr val="5B6482"/>
                </a:solidFill>
              </a:rPr>
              <a:t>Mời link, người phụ trách</a:t>
            </a:r>
            <a:endParaRPr lang="en-US" sz="1400" dirty="0"/>
          </a:p>
        </p:txBody>
      </p:sp>
      <p:sp>
        <p:nvSpPr>
          <p:cNvPr id="18" name="Thẻ Nhập thông minh"/>
          <p:cNvSpPr/>
          <p:nvPr/>
        </p:nvSpPr>
        <p:spPr>
          <a:xfrm>
            <a:off x="457200" y="2926080"/>
            <a:ext cx="2606040" cy="1508760"/>
          </a:xfrm>
          <a:prstGeom prst="roundRect">
            <a:avLst>
              <a:gd name="adj" fmla="val 7273"/>
            </a:avLst>
          </a:prstGeom>
          <a:solidFill>
            <a:schemeClr val="bg1"/>
          </a:solidFill>
          <a:ln w="9525">
            <a:solidFill>
              <a:srgbClr val="E4E2F4"/>
            </a:solidFill>
            <a:prstDash val="solid"/>
          </a:ln>
          <a:effectLst>
            <a:outerShdw sx="100000" sy="100000" kx="0" ky="0" algn="bl" rotWithShape="0" blurRad="101600" dist="25400" dir="5400000">
              <a:srgbClr val="1B1840">
                <a:alpha val="12000"/>
              </a:srgbClr>
            </a:outerShdw>
          </a:effectLst>
        </p:spPr>
      </p:sp>
      <p:sp>
        <p:nvSpPr>
          <p:cNvPr id="19" name="Vòng Nhập thông minh"/>
          <p:cNvSpPr/>
          <p:nvPr/>
        </p:nvSpPr>
        <p:spPr>
          <a:xfrm>
            <a:off x="685800" y="3154680"/>
            <a:ext cx="640080" cy="640080"/>
          </a:xfrm>
          <a:prstGeom prst="ellipse">
            <a:avLst/>
          </a:prstGeom>
          <a:solidFill>
            <a:srgbClr val="D65363"/>
          </a:solidFill>
          <a:ln w="12700">
            <a:solidFill>
              <a:srgbClr val="D65363"/>
            </a:solidFill>
            <a:prstDash val="solid"/>
          </a:ln>
        </p:spPr>
      </p:sp>
      <p:pic>
        <p:nvPicPr>
          <p:cNvPr id="20" name="Biểu tượng Nhập thông minh" descr="Nhập thông minh">    </p:cNvPr>
          <p:cNvPicPr>
            <a:picLocks noChangeAspect="1"/>
          </p:cNvPicPr>
          <p:nvPr/>
        </p:nvPicPr>
        <p:blipFill>
          <a:blip r:embed="rId4"/>
          <a:stretch>
            <a:fillRect/>
          </a:stretch>
        </p:blipFill>
        <p:spPr>
          <a:xfrm>
            <a:off x="850392" y="3319272"/>
            <a:ext cx="310896" cy="310896"/>
          </a:xfrm>
          <a:prstGeom prst="rect">
            <a:avLst/>
          </a:prstGeom>
        </p:spPr>
      </p:pic>
      <p:sp>
        <p:nvSpPr>
          <p:cNvPr id="21" name="Tên Nhập thông minh"/>
          <p:cNvSpPr txBox="1"/>
          <p:nvPr/>
        </p:nvSpPr>
        <p:spPr>
          <a:xfrm>
            <a:off x="685800" y="3840480"/>
            <a:ext cx="2194560" cy="274320"/>
          </a:xfrm>
          <a:prstGeom prst="rect">
            <a:avLst/>
          </a:prstGeom>
          <a:noFill/>
          <a:ln/>
        </p:spPr>
        <p:txBody>
          <a:bodyPr wrap="square" lIns="0" tIns="0" rIns="0" bIns="0" rtlCol="0" anchor="ctr"/>
          <a:lstStyle/>
          <a:p>
            <a:pPr indent="0" marL="0">
              <a:buNone/>
            </a:pPr>
            <a:r>
              <a:rPr lang="en-US" sz="1800" b="1" dirty="0">
                <a:solidFill>
                  <a:schemeClr val="tx1"/>
                </a:solidFill>
              </a:rPr>
              <a:t>Nhập thông minh</a:t>
            </a:r>
            <a:endParaRPr lang="en-US" sz="1800" dirty="0"/>
          </a:p>
        </p:txBody>
      </p:sp>
      <p:sp>
        <p:nvSpPr>
          <p:cNvPr id="22" name="Mô tả Nhập thông minh"/>
          <p:cNvSpPr txBox="1"/>
          <p:nvPr/>
        </p:nvSpPr>
        <p:spPr>
          <a:xfrm>
            <a:off x="685800" y="4114800"/>
            <a:ext cx="2194560" cy="256032"/>
          </a:xfrm>
          <a:prstGeom prst="rect">
            <a:avLst/>
          </a:prstGeom>
          <a:noFill/>
          <a:ln/>
        </p:spPr>
        <p:txBody>
          <a:bodyPr wrap="square" lIns="0" tIns="0" rIns="0" bIns="0" rtlCol="0" anchor="ctr"/>
          <a:lstStyle/>
          <a:p>
            <a:pPr indent="0" marL="0">
              <a:buNone/>
            </a:pPr>
            <a:r>
              <a:rPr lang="en-US" sz="1400" dirty="0">
                <a:solidFill>
                  <a:srgbClr val="5B6482"/>
                </a:solidFill>
              </a:rPr>
              <a:t>Nói hoặc gõ một câu</a:t>
            </a:r>
            <a:endParaRPr lang="en-US" sz="1400" dirty="0"/>
          </a:p>
        </p:txBody>
      </p:sp>
      <p:sp>
        <p:nvSpPr>
          <p:cNvPr id="23" name="Thẻ Nhắc nhở"/>
          <p:cNvSpPr/>
          <p:nvPr/>
        </p:nvSpPr>
        <p:spPr>
          <a:xfrm>
            <a:off x="3246120" y="2926080"/>
            <a:ext cx="2606040" cy="1508760"/>
          </a:xfrm>
          <a:prstGeom prst="roundRect">
            <a:avLst>
              <a:gd name="adj" fmla="val 7273"/>
            </a:avLst>
          </a:prstGeom>
          <a:solidFill>
            <a:schemeClr val="bg1"/>
          </a:solidFill>
          <a:ln w="9525">
            <a:solidFill>
              <a:srgbClr val="E4E2F4"/>
            </a:solidFill>
            <a:prstDash val="solid"/>
          </a:ln>
          <a:effectLst>
            <a:outerShdw sx="100000" sy="100000" kx="0" ky="0" algn="bl" rotWithShape="0" blurRad="101600" dist="25400" dir="5400000">
              <a:srgbClr val="1B1840">
                <a:alpha val="12000"/>
              </a:srgbClr>
            </a:outerShdw>
          </a:effectLst>
        </p:spPr>
      </p:sp>
      <p:sp>
        <p:nvSpPr>
          <p:cNvPr id="24" name="Vòng Nhắc nhở"/>
          <p:cNvSpPr/>
          <p:nvPr/>
        </p:nvSpPr>
        <p:spPr>
          <a:xfrm>
            <a:off x="3474720" y="3154680"/>
            <a:ext cx="640080" cy="640080"/>
          </a:xfrm>
          <a:prstGeom prst="ellipse">
            <a:avLst/>
          </a:prstGeom>
          <a:solidFill>
            <a:srgbClr val="F0B429"/>
          </a:solidFill>
          <a:ln w="12700">
            <a:solidFill>
              <a:srgbClr val="F0B429"/>
            </a:solidFill>
            <a:prstDash val="solid"/>
          </a:ln>
        </p:spPr>
      </p:sp>
      <p:pic>
        <p:nvPicPr>
          <p:cNvPr id="25" name="Biểu tượng Nhắc nhở" descr="Nhắc nhở">    </p:cNvPr>
          <p:cNvPicPr>
            <a:picLocks noChangeAspect="1"/>
          </p:cNvPicPr>
          <p:nvPr/>
        </p:nvPicPr>
        <p:blipFill>
          <a:blip r:embed="rId5"/>
          <a:stretch>
            <a:fillRect/>
          </a:stretch>
        </p:blipFill>
        <p:spPr>
          <a:xfrm>
            <a:off x="3639312" y="3319272"/>
            <a:ext cx="310896" cy="310896"/>
          </a:xfrm>
          <a:prstGeom prst="rect">
            <a:avLst/>
          </a:prstGeom>
        </p:spPr>
      </p:pic>
      <p:sp>
        <p:nvSpPr>
          <p:cNvPr id="26" name="Tên Nhắc nhở"/>
          <p:cNvSpPr txBox="1"/>
          <p:nvPr/>
        </p:nvSpPr>
        <p:spPr>
          <a:xfrm>
            <a:off x="3474720" y="3840480"/>
            <a:ext cx="2194560" cy="274320"/>
          </a:xfrm>
          <a:prstGeom prst="rect">
            <a:avLst/>
          </a:prstGeom>
          <a:noFill/>
          <a:ln/>
        </p:spPr>
        <p:txBody>
          <a:bodyPr wrap="square" lIns="0" tIns="0" rIns="0" bIns="0" rtlCol="0" anchor="ctr"/>
          <a:lstStyle/>
          <a:p>
            <a:pPr indent="0" marL="0">
              <a:buNone/>
            </a:pPr>
            <a:r>
              <a:rPr lang="en-US" sz="1800" b="1" dirty="0">
                <a:solidFill>
                  <a:schemeClr val="tx1"/>
                </a:solidFill>
              </a:rPr>
              <a:t>Nhắc nhở</a:t>
            </a:r>
            <a:endParaRPr lang="en-US" sz="1800" dirty="0"/>
          </a:p>
        </p:txBody>
      </p:sp>
      <p:sp>
        <p:nvSpPr>
          <p:cNvPr id="27" name="Mô tả Nhắc nhở"/>
          <p:cNvSpPr txBox="1"/>
          <p:nvPr/>
        </p:nvSpPr>
        <p:spPr>
          <a:xfrm>
            <a:off x="3474720" y="4114800"/>
            <a:ext cx="2194560" cy="256032"/>
          </a:xfrm>
          <a:prstGeom prst="rect">
            <a:avLst/>
          </a:prstGeom>
          <a:noFill/>
          <a:ln/>
        </p:spPr>
        <p:txBody>
          <a:bodyPr wrap="square" lIns="0" tIns="0" rIns="0" bIns="0" rtlCol="0" anchor="ctr"/>
          <a:lstStyle/>
          <a:p>
            <a:pPr indent="0" marL="0">
              <a:buNone/>
            </a:pPr>
            <a:r>
              <a:rPr lang="en-US" sz="1400" dirty="0">
                <a:solidFill>
                  <a:srgbClr val="5B6482"/>
                </a:solidFill>
              </a:rPr>
              <a:t>Quá hạn, dời hạn, .ics</a:t>
            </a:r>
            <a:endParaRPr lang="en-US" sz="1400" dirty="0"/>
          </a:p>
        </p:txBody>
      </p:sp>
      <p:sp>
        <p:nvSpPr>
          <p:cNvPr id="28" name="Thẻ Học tập"/>
          <p:cNvSpPr/>
          <p:nvPr/>
        </p:nvSpPr>
        <p:spPr>
          <a:xfrm>
            <a:off x="6035040" y="2926080"/>
            <a:ext cx="2606040" cy="1508760"/>
          </a:xfrm>
          <a:prstGeom prst="roundRect">
            <a:avLst>
              <a:gd name="adj" fmla="val 7273"/>
            </a:avLst>
          </a:prstGeom>
          <a:solidFill>
            <a:schemeClr val="bg1"/>
          </a:solidFill>
          <a:ln w="9525">
            <a:solidFill>
              <a:srgbClr val="E4E2F4"/>
            </a:solidFill>
            <a:prstDash val="solid"/>
          </a:ln>
          <a:effectLst>
            <a:outerShdw sx="100000" sy="100000" kx="0" ky="0" algn="bl" rotWithShape="0" blurRad="101600" dist="25400" dir="5400000">
              <a:srgbClr val="1B1840">
                <a:alpha val="12000"/>
              </a:srgbClr>
            </a:outerShdw>
          </a:effectLst>
        </p:spPr>
      </p:sp>
      <p:sp>
        <p:nvSpPr>
          <p:cNvPr id="29" name="Vòng Học tập"/>
          <p:cNvSpPr/>
          <p:nvPr/>
        </p:nvSpPr>
        <p:spPr>
          <a:xfrm>
            <a:off x="6263640" y="3154680"/>
            <a:ext cx="640080" cy="640080"/>
          </a:xfrm>
          <a:prstGeom prst="ellipse">
            <a:avLst/>
          </a:prstGeom>
          <a:solidFill>
            <a:srgbClr val="3B82D6"/>
          </a:solidFill>
          <a:ln w="12700">
            <a:solidFill>
              <a:srgbClr val="3B82D6"/>
            </a:solidFill>
            <a:prstDash val="solid"/>
          </a:ln>
        </p:spPr>
      </p:sp>
      <p:pic>
        <p:nvPicPr>
          <p:cNvPr id="30" name="Biểu tượng Học tập" descr="Học tập">    </p:cNvPr>
          <p:cNvPicPr>
            <a:picLocks noChangeAspect="1"/>
          </p:cNvPicPr>
          <p:nvPr/>
        </p:nvPicPr>
        <p:blipFill>
          <a:blip r:embed="rId6"/>
          <a:stretch>
            <a:fillRect/>
          </a:stretch>
        </p:blipFill>
        <p:spPr>
          <a:xfrm>
            <a:off x="6428232" y="3319272"/>
            <a:ext cx="310896" cy="310896"/>
          </a:xfrm>
          <a:prstGeom prst="rect">
            <a:avLst/>
          </a:prstGeom>
        </p:spPr>
      </p:pic>
      <p:sp>
        <p:nvSpPr>
          <p:cNvPr id="31" name="Tên Học tập"/>
          <p:cNvSpPr txBox="1"/>
          <p:nvPr/>
        </p:nvSpPr>
        <p:spPr>
          <a:xfrm>
            <a:off x="6263640" y="3840480"/>
            <a:ext cx="2194560" cy="274320"/>
          </a:xfrm>
          <a:prstGeom prst="rect">
            <a:avLst/>
          </a:prstGeom>
          <a:noFill/>
          <a:ln/>
        </p:spPr>
        <p:txBody>
          <a:bodyPr wrap="square" lIns="0" tIns="0" rIns="0" bIns="0" rtlCol="0" anchor="ctr"/>
          <a:lstStyle/>
          <a:p>
            <a:pPr indent="0" marL="0">
              <a:buNone/>
            </a:pPr>
            <a:r>
              <a:rPr lang="en-US" sz="1800" b="1" dirty="0">
                <a:solidFill>
                  <a:schemeClr val="tx1"/>
                </a:solidFill>
              </a:rPr>
              <a:t>Học tập</a:t>
            </a:r>
            <a:endParaRPr lang="en-US" sz="1800" dirty="0"/>
          </a:p>
        </p:txBody>
      </p:sp>
      <p:sp>
        <p:nvSpPr>
          <p:cNvPr id="32" name="Mô tả Học tập"/>
          <p:cNvSpPr txBox="1"/>
          <p:nvPr/>
        </p:nvSpPr>
        <p:spPr>
          <a:xfrm>
            <a:off x="6263640" y="4114800"/>
            <a:ext cx="2194560" cy="256032"/>
          </a:xfrm>
          <a:prstGeom prst="rect">
            <a:avLst/>
          </a:prstGeom>
          <a:noFill/>
          <a:ln/>
        </p:spPr>
        <p:txBody>
          <a:bodyPr wrap="square" lIns="0" tIns="0" rIns="0" bIns="0" rtlCol="0" anchor="ctr"/>
          <a:lstStyle/>
          <a:p>
            <a:pPr indent="0" marL="0">
              <a:buNone/>
            </a:pPr>
            <a:r>
              <a:rPr lang="en-US" sz="1400" dirty="0">
                <a:solidFill>
                  <a:srgbClr val="5B6482"/>
                </a:solidFill>
              </a:rPr>
              <a:t>Tính điểm, thang 4</a:t>
            </a:r>
            <a:endParaRPr lang="en-US" sz="14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8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1"/>
                </a:solidFill>
              </a:rPr>
              <a:t>Quản lý công việc</a:t>
            </a:r>
            <a:endParaRPr lang="en-US" sz="3600" dirty="0"/>
          </a:p>
        </p:txBody>
      </p:sp>
      <p:sp>
        <p:nvSpPr>
          <p:cNvPr id="3" name="Ý 1 vòng"/>
          <p:cNvSpPr/>
          <p:nvPr/>
        </p:nvSpPr>
        <p:spPr>
          <a:xfrm>
            <a:off x="457200" y="1371600"/>
            <a:ext cx="512064" cy="512064"/>
          </a:xfrm>
          <a:prstGeom prst="ellipse">
            <a:avLst/>
          </a:prstGeom>
          <a:solidFill>
            <a:srgbClr val="6759E8"/>
          </a:solidFill>
          <a:ln w="12700">
            <a:solidFill>
              <a:srgbClr val="6759E8"/>
            </a:solidFill>
            <a:prstDash val="solid"/>
          </a:ln>
        </p:spPr>
      </p:sp>
      <p:pic>
        <p:nvPicPr>
          <p:cNvPr id="4" name="Ý 1 biểu tượng" descr="Thẻ đầy đủ">    </p:cNvPr>
          <p:cNvPicPr>
            <a:picLocks noChangeAspect="1"/>
          </p:cNvPicPr>
          <p:nvPr/>
        </p:nvPicPr>
        <p:blipFill>
          <a:blip r:embed="rId1"/>
          <a:stretch>
            <a:fillRect/>
          </a:stretch>
        </p:blipFill>
        <p:spPr>
          <a:xfrm>
            <a:off x="585216" y="1499616"/>
            <a:ext cx="256032" cy="256032"/>
          </a:xfrm>
          <a:prstGeom prst="rect">
            <a:avLst/>
          </a:prstGeom>
        </p:spPr>
      </p:pic>
      <p:sp>
        <p:nvSpPr>
          <p:cNvPr id="5" name="Ý 1 tiêu đề"/>
          <p:cNvSpPr txBox="1"/>
          <p:nvPr/>
        </p:nvSpPr>
        <p:spPr>
          <a:xfrm>
            <a:off x="1115568" y="1353312"/>
            <a:ext cx="2359152" cy="292608"/>
          </a:xfrm>
          <a:prstGeom prst="rect">
            <a:avLst/>
          </a:prstGeom>
          <a:noFill/>
          <a:ln/>
        </p:spPr>
        <p:txBody>
          <a:bodyPr wrap="square" lIns="0" tIns="0" rIns="0" bIns="0" rtlCol="0" anchor="t"/>
          <a:lstStyle/>
          <a:p>
            <a:pPr indent="0" marL="0">
              <a:buNone/>
            </a:pPr>
            <a:r>
              <a:rPr lang="en-US" sz="1800" b="1" dirty="0">
                <a:solidFill>
                  <a:schemeClr val="tx1"/>
                </a:solidFill>
              </a:rPr>
              <a:t>Thẻ đầy đủ</a:t>
            </a:r>
            <a:endParaRPr lang="en-US" sz="1800" dirty="0"/>
          </a:p>
        </p:txBody>
      </p:sp>
      <p:sp>
        <p:nvSpPr>
          <p:cNvPr id="6" name="Ý 1 mô tả"/>
          <p:cNvSpPr txBox="1"/>
          <p:nvPr/>
        </p:nvSpPr>
        <p:spPr>
          <a:xfrm>
            <a:off x="1115568" y="1645920"/>
            <a:ext cx="2359152" cy="502920"/>
          </a:xfrm>
          <a:prstGeom prst="rect">
            <a:avLst/>
          </a:prstGeom>
          <a:noFill/>
          <a:ln/>
        </p:spPr>
        <p:txBody>
          <a:bodyPr wrap="square" lIns="0" tIns="0" rIns="0" bIns="0" rtlCol="0" anchor="t"/>
          <a:lstStyle/>
          <a:p>
            <a:pPr indent="0" marL="0">
              <a:buNone/>
            </a:pPr>
            <a:r>
              <a:rPr lang="en-US" sz="1400" dirty="0">
                <a:solidFill>
                  <a:srgbClr val="5B6482"/>
                </a:solidFill>
              </a:rPr>
              <a:t>Hạn, checklist, nhãn, file, bình luận</a:t>
            </a:r>
            <a:endParaRPr lang="en-US" sz="1400" dirty="0"/>
          </a:p>
        </p:txBody>
      </p:sp>
      <p:sp>
        <p:nvSpPr>
          <p:cNvPr id="7" name="Ý 2 vòng"/>
          <p:cNvSpPr/>
          <p:nvPr/>
        </p:nvSpPr>
        <p:spPr>
          <a:xfrm>
            <a:off x="457200" y="2468880"/>
            <a:ext cx="512064" cy="512064"/>
          </a:xfrm>
          <a:prstGeom prst="ellipse">
            <a:avLst/>
          </a:prstGeom>
          <a:solidFill>
            <a:srgbClr val="3C8D9C"/>
          </a:solidFill>
          <a:ln w="12700">
            <a:solidFill>
              <a:srgbClr val="3C8D9C"/>
            </a:solidFill>
            <a:prstDash val="solid"/>
          </a:ln>
        </p:spPr>
      </p:sp>
      <p:pic>
        <p:nvPicPr>
          <p:cNvPr id="8" name="Ý 2 biểu tượng" descr="Cột tùy chỉnh">    </p:cNvPr>
          <p:cNvPicPr>
            <a:picLocks noChangeAspect="1"/>
          </p:cNvPicPr>
          <p:nvPr/>
        </p:nvPicPr>
        <p:blipFill>
          <a:blip r:embed="rId2"/>
          <a:stretch>
            <a:fillRect/>
          </a:stretch>
        </p:blipFill>
        <p:spPr>
          <a:xfrm>
            <a:off x="585216" y="2596896"/>
            <a:ext cx="256032" cy="256032"/>
          </a:xfrm>
          <a:prstGeom prst="rect">
            <a:avLst/>
          </a:prstGeom>
        </p:spPr>
      </p:pic>
      <p:sp>
        <p:nvSpPr>
          <p:cNvPr id="9" name="Ý 2 tiêu đề"/>
          <p:cNvSpPr txBox="1"/>
          <p:nvPr/>
        </p:nvSpPr>
        <p:spPr>
          <a:xfrm>
            <a:off x="1115568" y="2450592"/>
            <a:ext cx="2359152" cy="292608"/>
          </a:xfrm>
          <a:prstGeom prst="rect">
            <a:avLst/>
          </a:prstGeom>
          <a:noFill/>
          <a:ln/>
        </p:spPr>
        <p:txBody>
          <a:bodyPr wrap="square" lIns="0" tIns="0" rIns="0" bIns="0" rtlCol="0" anchor="t"/>
          <a:lstStyle/>
          <a:p>
            <a:pPr indent="0" marL="0">
              <a:buNone/>
            </a:pPr>
            <a:r>
              <a:rPr lang="en-US" sz="1800" b="1" dirty="0">
                <a:solidFill>
                  <a:schemeClr val="tx1"/>
                </a:solidFill>
              </a:rPr>
              <a:t>Cột tùy chỉnh</a:t>
            </a:r>
            <a:endParaRPr lang="en-US" sz="1800" dirty="0"/>
          </a:p>
        </p:txBody>
      </p:sp>
      <p:sp>
        <p:nvSpPr>
          <p:cNvPr id="10" name="Ý 2 mô tả"/>
          <p:cNvSpPr txBox="1"/>
          <p:nvPr/>
        </p:nvSpPr>
        <p:spPr>
          <a:xfrm>
            <a:off x="1115568" y="2743200"/>
            <a:ext cx="2359152" cy="502920"/>
          </a:xfrm>
          <a:prstGeom prst="rect">
            <a:avLst/>
          </a:prstGeom>
          <a:noFill/>
          <a:ln/>
        </p:spPr>
        <p:txBody>
          <a:bodyPr wrap="square" lIns="0" tIns="0" rIns="0" bIns="0" rtlCol="0" anchor="t"/>
          <a:lstStyle/>
          <a:p>
            <a:pPr indent="0" marL="0">
              <a:buNone/>
            </a:pPr>
            <a:r>
              <a:rPr lang="en-US" sz="1400" dirty="0">
                <a:solidFill>
                  <a:srgbClr val="5B6482"/>
                </a:solidFill>
              </a:rPr>
              <a:t>Thêm, đổi tên, đổi màu</a:t>
            </a:r>
            <a:endParaRPr lang="en-US" sz="1400" dirty="0"/>
          </a:p>
        </p:txBody>
      </p:sp>
      <p:sp>
        <p:nvSpPr>
          <p:cNvPr id="11" name="Ý 3 vòng"/>
          <p:cNvSpPr/>
          <p:nvPr/>
        </p:nvSpPr>
        <p:spPr>
          <a:xfrm>
            <a:off x="457200" y="3566160"/>
            <a:ext cx="512064" cy="512064"/>
          </a:xfrm>
          <a:prstGeom prst="ellipse">
            <a:avLst/>
          </a:prstGeom>
          <a:solidFill>
            <a:srgbClr val="1C9B72"/>
          </a:solidFill>
          <a:ln w="12700">
            <a:solidFill>
              <a:srgbClr val="1C9B72"/>
            </a:solidFill>
            <a:prstDash val="solid"/>
          </a:ln>
        </p:spPr>
      </p:sp>
      <p:pic>
        <p:nvPicPr>
          <p:cNvPr id="12" name="Ý 3 biểu tượng" descr="Kéo thả">    </p:cNvPr>
          <p:cNvPicPr>
            <a:picLocks noChangeAspect="1"/>
          </p:cNvPicPr>
          <p:nvPr/>
        </p:nvPicPr>
        <p:blipFill>
          <a:blip r:embed="rId3"/>
          <a:stretch>
            <a:fillRect/>
          </a:stretch>
        </p:blipFill>
        <p:spPr>
          <a:xfrm>
            <a:off x="585216" y="3694176"/>
            <a:ext cx="256032" cy="256032"/>
          </a:xfrm>
          <a:prstGeom prst="rect">
            <a:avLst/>
          </a:prstGeom>
        </p:spPr>
      </p:pic>
      <p:sp>
        <p:nvSpPr>
          <p:cNvPr id="13" name="Ý 3 tiêu đề"/>
          <p:cNvSpPr txBox="1"/>
          <p:nvPr/>
        </p:nvSpPr>
        <p:spPr>
          <a:xfrm>
            <a:off x="1115568" y="3547872"/>
            <a:ext cx="2359152" cy="292608"/>
          </a:xfrm>
          <a:prstGeom prst="rect">
            <a:avLst/>
          </a:prstGeom>
          <a:noFill/>
          <a:ln/>
        </p:spPr>
        <p:txBody>
          <a:bodyPr wrap="square" lIns="0" tIns="0" rIns="0" bIns="0" rtlCol="0" anchor="t"/>
          <a:lstStyle/>
          <a:p>
            <a:pPr indent="0" marL="0">
              <a:buNone/>
            </a:pPr>
            <a:r>
              <a:rPr lang="en-US" sz="1800" b="1" dirty="0">
                <a:solidFill>
                  <a:schemeClr val="tx1"/>
                </a:solidFill>
              </a:rPr>
              <a:t>Kéo thả</a:t>
            </a:r>
            <a:endParaRPr lang="en-US" sz="1800" dirty="0"/>
          </a:p>
        </p:txBody>
      </p:sp>
      <p:sp>
        <p:nvSpPr>
          <p:cNvPr id="14" name="Ý 3 mô tả"/>
          <p:cNvSpPr txBox="1"/>
          <p:nvPr/>
        </p:nvSpPr>
        <p:spPr>
          <a:xfrm>
            <a:off x="1115568" y="3840480"/>
            <a:ext cx="2359152" cy="502920"/>
          </a:xfrm>
          <a:prstGeom prst="rect">
            <a:avLst/>
          </a:prstGeom>
          <a:noFill/>
          <a:ln/>
        </p:spPr>
        <p:txBody>
          <a:bodyPr wrap="square" lIns="0" tIns="0" rIns="0" bIns="0" rtlCol="0" anchor="t"/>
          <a:lstStyle/>
          <a:p>
            <a:pPr indent="0" marL="0">
              <a:buNone/>
            </a:pPr>
            <a:r>
              <a:rPr lang="en-US" sz="1400" dirty="0">
                <a:solidFill>
                  <a:srgbClr val="5B6482"/>
                </a:solidFill>
              </a:rPr>
              <a:t>Đổi cột, đổi thứ tự, hoàn tác</a:t>
            </a:r>
            <a:endParaRPr lang="en-US" sz="1400" dirty="0"/>
          </a:p>
        </p:txBody>
      </p:sp>
      <p:sp>
        <p:nvSpPr>
          <p:cNvPr id="15" name="Bảng nhóm 3 cột khung"/>
          <p:cNvSpPr/>
          <p:nvPr/>
        </p:nvSpPr>
        <p:spPr>
          <a:xfrm>
            <a:off x="3511296" y="1287784"/>
            <a:ext cx="5230368" cy="3002273"/>
          </a:xfrm>
          <a:prstGeom prst="roundRect">
            <a:avLst>
              <a:gd name="adj" fmla="val 3655"/>
            </a:avLst>
          </a:prstGeom>
          <a:solidFill>
            <a:schemeClr val="bg1"/>
          </a:solidFill>
          <a:ln w="9525">
            <a:solidFill>
              <a:srgbClr val="E4E2F4"/>
            </a:solidFill>
            <a:prstDash val="solid"/>
          </a:ln>
          <a:effectLst>
            <a:outerShdw sx="100000" sy="100000" kx="0" ky="0" algn="bl" rotWithShape="0" blurRad="101600" dist="25400" dir="5400000">
              <a:srgbClr val="1B1840">
                <a:alpha val="12000"/>
              </a:srgbClr>
            </a:outerShdw>
          </a:effectLst>
        </p:spPr>
      </p:sp>
      <p:pic>
        <p:nvPicPr>
          <p:cNvPr id="16" name="Bảng nhóm 3 cột" descr="Bảng nhóm 3 cột">    </p:cNvPr>
          <p:cNvPicPr>
            <a:picLocks noChangeAspect="1"/>
          </p:cNvPicPr>
          <p:nvPr/>
        </p:nvPicPr>
        <p:blipFill>
          <a:blip r:embed="rId4"/>
          <a:stretch>
            <a:fillRect/>
          </a:stretch>
        </p:blipFill>
        <p:spPr>
          <a:xfrm>
            <a:off x="3566160" y="1342648"/>
            <a:ext cx="5120640" cy="2892545"/>
          </a:xfrm>
          <a:prstGeom prst="rect">
            <a:avLst/>
          </a:prstGeom>
        </p:spPr>
      </p:pic>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1"/>
                </a:solidFill>
              </a:rPr>
              <a:t>Kế hoạch cá nhân</a:t>
            </a:r>
            <a:endParaRPr lang="en-US" sz="3600" dirty="0"/>
          </a:p>
        </p:txBody>
      </p:sp>
      <p:sp>
        <p:nvSpPr>
          <p:cNvPr id="3" name="Thời khóa biểu tuần khung"/>
          <p:cNvSpPr/>
          <p:nvPr/>
        </p:nvSpPr>
        <p:spPr>
          <a:xfrm>
            <a:off x="419344" y="1042416"/>
            <a:ext cx="5287792" cy="3630168"/>
          </a:xfrm>
          <a:prstGeom prst="roundRect">
            <a:avLst>
              <a:gd name="adj" fmla="val 3023"/>
            </a:avLst>
          </a:prstGeom>
          <a:solidFill>
            <a:schemeClr val="bg1"/>
          </a:solidFill>
          <a:ln w="9525">
            <a:solidFill>
              <a:srgbClr val="E4E2F4"/>
            </a:solidFill>
            <a:prstDash val="solid"/>
          </a:ln>
          <a:effectLst>
            <a:outerShdw sx="100000" sy="100000" kx="0" ky="0" algn="bl" rotWithShape="0" blurRad="101600" dist="25400" dir="5400000">
              <a:srgbClr val="1B1840">
                <a:alpha val="12000"/>
              </a:srgbClr>
            </a:outerShdw>
          </a:effectLst>
        </p:spPr>
      </p:sp>
      <p:pic>
        <p:nvPicPr>
          <p:cNvPr id="4" name="Thời khóa biểu tuần" descr="Thời khóa biểu tuần">    </p:cNvPr>
          <p:cNvPicPr>
            <a:picLocks noChangeAspect="1"/>
          </p:cNvPicPr>
          <p:nvPr/>
        </p:nvPicPr>
        <p:blipFill>
          <a:blip r:embed="rId1"/>
          <a:stretch>
            <a:fillRect/>
          </a:stretch>
        </p:blipFill>
        <p:spPr>
          <a:xfrm>
            <a:off x="474208" y="1097280"/>
            <a:ext cx="5178064" cy="3520440"/>
          </a:xfrm>
          <a:prstGeom prst="rect">
            <a:avLst/>
          </a:prstGeom>
        </p:spPr>
      </p:pic>
      <p:sp>
        <p:nvSpPr>
          <p:cNvPr id="5" name="Ý 1 vòng"/>
          <p:cNvSpPr/>
          <p:nvPr/>
        </p:nvSpPr>
        <p:spPr>
          <a:xfrm>
            <a:off x="5989320" y="1371600"/>
            <a:ext cx="512064" cy="512064"/>
          </a:xfrm>
          <a:prstGeom prst="ellipse">
            <a:avLst/>
          </a:prstGeom>
          <a:solidFill>
            <a:srgbClr val="F0B429"/>
          </a:solidFill>
          <a:ln w="12700">
            <a:solidFill>
              <a:srgbClr val="F0B429"/>
            </a:solidFill>
            <a:prstDash val="solid"/>
          </a:ln>
        </p:spPr>
      </p:sp>
      <p:pic>
        <p:nvPicPr>
          <p:cNvPr id="6" name="Ý 1 biểu tượng" descr="Hôm nay to nhất">    </p:cNvPr>
          <p:cNvPicPr>
            <a:picLocks noChangeAspect="1"/>
          </p:cNvPicPr>
          <p:nvPr/>
        </p:nvPicPr>
        <p:blipFill>
          <a:blip r:embed="rId2"/>
          <a:stretch>
            <a:fillRect/>
          </a:stretch>
        </p:blipFill>
        <p:spPr>
          <a:xfrm>
            <a:off x="6117336" y="1499616"/>
            <a:ext cx="256032" cy="256032"/>
          </a:xfrm>
          <a:prstGeom prst="rect">
            <a:avLst/>
          </a:prstGeom>
        </p:spPr>
      </p:pic>
      <p:sp>
        <p:nvSpPr>
          <p:cNvPr id="7" name="Ý 1 tiêu đề"/>
          <p:cNvSpPr txBox="1"/>
          <p:nvPr/>
        </p:nvSpPr>
        <p:spPr>
          <a:xfrm>
            <a:off x="6647688" y="1353312"/>
            <a:ext cx="2039112" cy="292608"/>
          </a:xfrm>
          <a:prstGeom prst="rect">
            <a:avLst/>
          </a:prstGeom>
          <a:noFill/>
          <a:ln/>
        </p:spPr>
        <p:txBody>
          <a:bodyPr wrap="square" lIns="0" tIns="0" rIns="0" bIns="0" rtlCol="0" anchor="t"/>
          <a:lstStyle/>
          <a:p>
            <a:pPr indent="0" marL="0">
              <a:buNone/>
            </a:pPr>
            <a:r>
              <a:rPr lang="en-US" sz="1800" b="1" dirty="0">
                <a:solidFill>
                  <a:schemeClr val="tx1"/>
                </a:solidFill>
              </a:rPr>
              <a:t>Hôm nay to nhất</a:t>
            </a:r>
            <a:endParaRPr lang="en-US" sz="1800" dirty="0"/>
          </a:p>
        </p:txBody>
      </p:sp>
      <p:sp>
        <p:nvSpPr>
          <p:cNvPr id="8" name="Ý 1 mô tả"/>
          <p:cNvSpPr txBox="1"/>
          <p:nvPr/>
        </p:nvSpPr>
        <p:spPr>
          <a:xfrm>
            <a:off x="6647688" y="1645920"/>
            <a:ext cx="2039112" cy="502920"/>
          </a:xfrm>
          <a:prstGeom prst="rect">
            <a:avLst/>
          </a:prstGeom>
          <a:noFill/>
          <a:ln/>
        </p:spPr>
        <p:txBody>
          <a:bodyPr wrap="square" lIns="0" tIns="0" rIns="0" bIns="0" rtlCol="0" anchor="t"/>
          <a:lstStyle/>
          <a:p>
            <a:pPr indent="0" marL="0">
              <a:buNone/>
            </a:pPr>
            <a:r>
              <a:rPr lang="en-US" sz="1400" dirty="0">
                <a:solidFill>
                  <a:srgbClr val="5B6482"/>
                </a:solidFill>
              </a:rPr>
              <a:t>Cột ngày hiện tại được phóng to</a:t>
            </a:r>
            <a:endParaRPr lang="en-US" sz="1400" dirty="0"/>
          </a:p>
        </p:txBody>
      </p:sp>
      <p:sp>
        <p:nvSpPr>
          <p:cNvPr id="9" name="Ý 2 vòng"/>
          <p:cNvSpPr/>
          <p:nvPr/>
        </p:nvSpPr>
        <p:spPr>
          <a:xfrm>
            <a:off x="5989320" y="2468880"/>
            <a:ext cx="512064" cy="512064"/>
          </a:xfrm>
          <a:prstGeom prst="ellipse">
            <a:avLst/>
          </a:prstGeom>
          <a:solidFill>
            <a:srgbClr val="3C8D9C"/>
          </a:solidFill>
          <a:ln w="12700">
            <a:solidFill>
              <a:srgbClr val="3C8D9C"/>
            </a:solidFill>
            <a:prstDash val="solid"/>
          </a:ln>
        </p:spPr>
      </p:sp>
      <p:pic>
        <p:nvPicPr>
          <p:cNvPr id="10" name="Ý 2 biểu tượng" descr="Lịch cố định">    </p:cNvPr>
          <p:cNvPicPr>
            <a:picLocks noChangeAspect="1"/>
          </p:cNvPicPr>
          <p:nvPr/>
        </p:nvPicPr>
        <p:blipFill>
          <a:blip r:embed="rId3"/>
          <a:stretch>
            <a:fillRect/>
          </a:stretch>
        </p:blipFill>
        <p:spPr>
          <a:xfrm>
            <a:off x="6117336" y="2596896"/>
            <a:ext cx="256032" cy="256032"/>
          </a:xfrm>
          <a:prstGeom prst="rect">
            <a:avLst/>
          </a:prstGeom>
        </p:spPr>
      </p:pic>
      <p:sp>
        <p:nvSpPr>
          <p:cNvPr id="11" name="Ý 2 tiêu đề"/>
          <p:cNvSpPr txBox="1"/>
          <p:nvPr/>
        </p:nvSpPr>
        <p:spPr>
          <a:xfrm>
            <a:off x="6647688" y="2450592"/>
            <a:ext cx="2039112" cy="292608"/>
          </a:xfrm>
          <a:prstGeom prst="rect">
            <a:avLst/>
          </a:prstGeom>
          <a:noFill/>
          <a:ln/>
        </p:spPr>
        <p:txBody>
          <a:bodyPr wrap="square" lIns="0" tIns="0" rIns="0" bIns="0" rtlCol="0" anchor="t"/>
          <a:lstStyle/>
          <a:p>
            <a:pPr indent="0" marL="0">
              <a:buNone/>
            </a:pPr>
            <a:r>
              <a:rPr lang="en-US" sz="1800" b="1" dirty="0">
                <a:solidFill>
                  <a:schemeClr val="tx1"/>
                </a:solidFill>
              </a:rPr>
              <a:t>Lịch cố định</a:t>
            </a:r>
            <a:endParaRPr lang="en-US" sz="1800" dirty="0"/>
          </a:p>
        </p:txBody>
      </p:sp>
      <p:sp>
        <p:nvSpPr>
          <p:cNvPr id="12" name="Ý 2 mô tả"/>
          <p:cNvSpPr txBox="1"/>
          <p:nvPr/>
        </p:nvSpPr>
        <p:spPr>
          <a:xfrm>
            <a:off x="6647688" y="2743200"/>
            <a:ext cx="2039112" cy="502920"/>
          </a:xfrm>
          <a:prstGeom prst="rect">
            <a:avLst/>
          </a:prstGeom>
          <a:noFill/>
          <a:ln/>
        </p:spPr>
        <p:txBody>
          <a:bodyPr wrap="square" lIns="0" tIns="0" rIns="0" bIns="0" rtlCol="0" anchor="t"/>
          <a:lstStyle/>
          <a:p>
            <a:pPr indent="0" marL="0">
              <a:buNone/>
            </a:pPr>
            <a:r>
              <a:rPr lang="en-US" sz="1400" dirty="0">
                <a:solidFill>
                  <a:srgbClr val="5B6482"/>
                </a:solidFill>
              </a:rPr>
              <a:t>Tiết học lặp theo tuần, nghỉ từng buổi</a:t>
            </a:r>
            <a:endParaRPr lang="en-US" sz="1400" dirty="0"/>
          </a:p>
        </p:txBody>
      </p:sp>
      <p:sp>
        <p:nvSpPr>
          <p:cNvPr id="13" name="Ý 3 vòng"/>
          <p:cNvSpPr/>
          <p:nvPr/>
        </p:nvSpPr>
        <p:spPr>
          <a:xfrm>
            <a:off x="5989320" y="3566160"/>
            <a:ext cx="512064" cy="512064"/>
          </a:xfrm>
          <a:prstGeom prst="ellipse">
            <a:avLst/>
          </a:prstGeom>
          <a:solidFill>
            <a:srgbClr val="6759E8"/>
          </a:solidFill>
          <a:ln w="12700">
            <a:solidFill>
              <a:srgbClr val="6759E8"/>
            </a:solidFill>
            <a:prstDash val="solid"/>
          </a:ln>
        </p:spPr>
      </p:sp>
      <p:pic>
        <p:nvPicPr>
          <p:cNvPr id="14" name="Ý 3 biểu tượng" descr="Bấm vào thứ">    </p:cNvPr>
          <p:cNvPicPr>
            <a:picLocks noChangeAspect="1"/>
          </p:cNvPicPr>
          <p:nvPr/>
        </p:nvPicPr>
        <p:blipFill>
          <a:blip r:embed="rId4"/>
          <a:stretch>
            <a:fillRect/>
          </a:stretch>
        </p:blipFill>
        <p:spPr>
          <a:xfrm>
            <a:off x="6117336" y="3694176"/>
            <a:ext cx="256032" cy="256032"/>
          </a:xfrm>
          <a:prstGeom prst="rect">
            <a:avLst/>
          </a:prstGeom>
        </p:spPr>
      </p:pic>
      <p:sp>
        <p:nvSpPr>
          <p:cNvPr id="15" name="Ý 3 tiêu đề"/>
          <p:cNvSpPr txBox="1"/>
          <p:nvPr/>
        </p:nvSpPr>
        <p:spPr>
          <a:xfrm>
            <a:off x="6647688" y="3547872"/>
            <a:ext cx="2039112" cy="292608"/>
          </a:xfrm>
          <a:prstGeom prst="rect">
            <a:avLst/>
          </a:prstGeom>
          <a:noFill/>
          <a:ln/>
        </p:spPr>
        <p:txBody>
          <a:bodyPr wrap="square" lIns="0" tIns="0" rIns="0" bIns="0" rtlCol="0" anchor="t"/>
          <a:lstStyle/>
          <a:p>
            <a:pPr indent="0" marL="0">
              <a:buNone/>
            </a:pPr>
            <a:r>
              <a:rPr lang="en-US" sz="1800" b="1" dirty="0">
                <a:solidFill>
                  <a:schemeClr val="tx1"/>
                </a:solidFill>
              </a:rPr>
              <a:t>Bấm vào thứ</a:t>
            </a:r>
            <a:endParaRPr lang="en-US" sz="1800" dirty="0"/>
          </a:p>
        </p:txBody>
      </p:sp>
      <p:sp>
        <p:nvSpPr>
          <p:cNvPr id="16" name="Ý 3 mô tả"/>
          <p:cNvSpPr txBox="1"/>
          <p:nvPr/>
        </p:nvSpPr>
        <p:spPr>
          <a:xfrm>
            <a:off x="6647688" y="3840480"/>
            <a:ext cx="2039112" cy="502920"/>
          </a:xfrm>
          <a:prstGeom prst="rect">
            <a:avLst/>
          </a:prstGeom>
          <a:noFill/>
          <a:ln/>
        </p:spPr>
        <p:txBody>
          <a:bodyPr wrap="square" lIns="0" tIns="0" rIns="0" bIns="0" rtlCol="0" anchor="t"/>
          <a:lstStyle/>
          <a:p>
            <a:pPr indent="0" marL="0">
              <a:buNone/>
            </a:pPr>
            <a:r>
              <a:rPr lang="en-US" sz="1400" dirty="0">
                <a:solidFill>
                  <a:srgbClr val="5B6482"/>
                </a:solidFill>
              </a:rPr>
              <a:t>Xem riêng một ngày</a:t>
            </a:r>
            <a:endParaRPr lang="en-US" sz="14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1"/>
                </a:solidFill>
              </a:rPr>
              <a:t>Nói một câu, hệ thống tự điền</a:t>
            </a:r>
            <a:endParaRPr lang="en-US" sz="3600" dirty="0"/>
          </a:p>
        </p:txBody>
      </p:sp>
      <p:sp>
        <p:nvSpPr>
          <p:cNvPr id="3" name="Câu mẫu khung"/>
          <p:cNvSpPr/>
          <p:nvPr/>
        </p:nvSpPr>
        <p:spPr>
          <a:xfrm>
            <a:off x="457200" y="1188720"/>
            <a:ext cx="4297680" cy="1828800"/>
          </a:xfrm>
          <a:prstGeom prst="roundRect">
            <a:avLst>
              <a:gd name="adj" fmla="val 6000"/>
            </a:avLst>
          </a:prstGeom>
          <a:solidFill>
            <a:schemeClr val="bg1"/>
          </a:solidFill>
          <a:ln w="9525">
            <a:solidFill>
              <a:srgbClr val="E4E2F4"/>
            </a:solidFill>
            <a:prstDash val="solid"/>
          </a:ln>
          <a:effectLst>
            <a:outerShdw sx="100000" sy="100000" kx="0" ky="0" algn="bl" rotWithShape="0" blurRad="101600" dist="25400" dir="5400000">
              <a:srgbClr val="1B1840">
                <a:alpha val="12000"/>
              </a:srgbClr>
            </a:outerShdw>
          </a:effectLst>
        </p:spPr>
      </p:sp>
      <p:pic>
        <p:nvPicPr>
          <p:cNvPr id="4" name="Dấu trích" descr="Dấu trích dẫn">    </p:cNvPr>
          <p:cNvPicPr>
            <a:picLocks noChangeAspect="1"/>
          </p:cNvPicPr>
          <p:nvPr/>
        </p:nvPicPr>
        <p:blipFill>
          <a:blip r:embed="rId1"/>
          <a:stretch>
            <a:fillRect/>
          </a:stretch>
        </p:blipFill>
        <p:spPr>
          <a:xfrm>
            <a:off x="685800" y="1371600"/>
            <a:ext cx="274320" cy="274320"/>
          </a:xfrm>
          <a:prstGeom prst="rect">
            <a:avLst/>
          </a:prstGeom>
        </p:spPr>
      </p:pic>
      <p:sp>
        <p:nvSpPr>
          <p:cNvPr id="5" name="Câu mẫu"/>
          <p:cNvSpPr txBox="1"/>
          <p:nvPr/>
        </p:nvSpPr>
        <p:spPr>
          <a:xfrm>
            <a:off x="685800" y="1737360"/>
            <a:ext cx="3840480" cy="1143000"/>
          </a:xfrm>
          <a:prstGeom prst="rect">
            <a:avLst/>
          </a:prstGeom>
          <a:noFill/>
          <a:ln/>
        </p:spPr>
        <p:txBody>
          <a:bodyPr wrap="square" lIns="0" tIns="0" rIns="0" bIns="0" rtlCol="0" anchor="t"/>
          <a:lstStyle/>
          <a:p>
            <a:pPr indent="0" marL="0">
              <a:buNone/>
            </a:pPr>
            <a:r>
              <a:rPr lang="en-US" sz="1800" i="1" dirty="0">
                <a:solidFill>
                  <a:schemeClr val="tx1"/>
                </a:solidFill>
              </a:rPr>
              <a:t>Tôi có tiết học môn Toán trên trường từ 8 giờ sáng đến 10 giờ sáng hàng ngày từ tháng 10 đến tháng 12</a:t>
            </a:r>
            <a:endParaRPr lang="en-US" sz="1800" dirty="0"/>
          </a:p>
        </p:txBody>
      </p:sp>
      <p:pic>
        <p:nvPicPr>
          <p:cNvPr id="6" name="Mũi tên" descr="Mũi tên xuống">    </p:cNvPr>
          <p:cNvPicPr>
            <a:picLocks noChangeAspect="1"/>
          </p:cNvPicPr>
          <p:nvPr/>
        </p:nvPicPr>
        <p:blipFill>
          <a:blip r:embed="rId2"/>
          <a:stretch>
            <a:fillRect/>
          </a:stretch>
        </p:blipFill>
        <p:spPr>
          <a:xfrm>
            <a:off x="2423160" y="3108960"/>
            <a:ext cx="365760" cy="365760"/>
          </a:xfrm>
          <a:prstGeom prst="rect">
            <a:avLst/>
          </a:prstGeom>
        </p:spPr>
      </p:pic>
      <p:sp>
        <p:nvSpPr>
          <p:cNvPr id="7" name="Chip Tên"/>
          <p:cNvSpPr/>
          <p:nvPr/>
        </p:nvSpPr>
        <p:spPr>
          <a:xfrm>
            <a:off x="539496" y="3611880"/>
            <a:ext cx="489204" cy="347472"/>
          </a:xfrm>
          <a:prstGeom prst="roundRect">
            <a:avLst>
              <a:gd name="adj" fmla="val 50000"/>
            </a:avLst>
          </a:prstGeom>
          <a:solidFill>
            <a:schemeClr val="bg2"/>
          </a:solidFill>
          <a:ln w="9525">
            <a:solidFill>
              <a:srgbClr val="D9D5F7"/>
            </a:solidFill>
            <a:prstDash val="solid"/>
          </a:ln>
        </p:spPr>
      </p:sp>
      <p:sp>
        <p:nvSpPr>
          <p:cNvPr id="8" name="Chữ chip Tên"/>
          <p:cNvSpPr txBox="1"/>
          <p:nvPr/>
        </p:nvSpPr>
        <p:spPr>
          <a:xfrm>
            <a:off x="539496" y="3611880"/>
            <a:ext cx="489204" cy="347472"/>
          </a:xfrm>
          <a:prstGeom prst="rect">
            <a:avLst/>
          </a:prstGeom>
          <a:noFill/>
          <a:ln/>
        </p:spPr>
        <p:txBody>
          <a:bodyPr wrap="square" lIns="0" tIns="0" rIns="0" bIns="0" rtlCol="0" anchor="ctr"/>
          <a:lstStyle/>
          <a:p>
            <a:pPr algn="ctr" indent="0" marL="0">
              <a:buNone/>
            </a:pPr>
            <a:r>
              <a:rPr lang="en-US" sz="1400" b="1" dirty="0">
                <a:solidFill>
                  <a:schemeClr val="accent1"/>
                </a:solidFill>
              </a:rPr>
              <a:t>Tên</a:t>
            </a:r>
            <a:endParaRPr lang="en-US" sz="1400" dirty="0"/>
          </a:p>
        </p:txBody>
      </p:sp>
      <p:sp>
        <p:nvSpPr>
          <p:cNvPr id="9" name="Chip Địa điểm"/>
          <p:cNvSpPr/>
          <p:nvPr/>
        </p:nvSpPr>
        <p:spPr>
          <a:xfrm>
            <a:off x="1138428" y="3611880"/>
            <a:ext cx="969264" cy="347472"/>
          </a:xfrm>
          <a:prstGeom prst="roundRect">
            <a:avLst>
              <a:gd name="adj" fmla="val 50000"/>
            </a:avLst>
          </a:prstGeom>
          <a:solidFill>
            <a:schemeClr val="bg2"/>
          </a:solidFill>
          <a:ln w="9525">
            <a:solidFill>
              <a:srgbClr val="D9D5F7"/>
            </a:solidFill>
            <a:prstDash val="solid"/>
          </a:ln>
        </p:spPr>
      </p:sp>
      <p:sp>
        <p:nvSpPr>
          <p:cNvPr id="10" name="Chữ chip Địa điểm"/>
          <p:cNvSpPr txBox="1"/>
          <p:nvPr/>
        </p:nvSpPr>
        <p:spPr>
          <a:xfrm>
            <a:off x="1138428" y="3611880"/>
            <a:ext cx="969264" cy="347472"/>
          </a:xfrm>
          <a:prstGeom prst="rect">
            <a:avLst/>
          </a:prstGeom>
          <a:noFill/>
          <a:ln/>
        </p:spPr>
        <p:txBody>
          <a:bodyPr wrap="square" lIns="0" tIns="0" rIns="0" bIns="0" rtlCol="0" anchor="ctr"/>
          <a:lstStyle/>
          <a:p>
            <a:pPr algn="ctr" indent="0" marL="0">
              <a:buNone/>
            </a:pPr>
            <a:r>
              <a:rPr lang="en-US" sz="1400" b="1" dirty="0">
                <a:solidFill>
                  <a:schemeClr val="accent1"/>
                </a:solidFill>
              </a:rPr>
              <a:t>Địa điểm</a:t>
            </a:r>
            <a:endParaRPr lang="en-US" sz="1400" dirty="0"/>
          </a:p>
        </p:txBody>
      </p:sp>
      <p:sp>
        <p:nvSpPr>
          <p:cNvPr id="11" name="Chip Giờ"/>
          <p:cNvSpPr/>
          <p:nvPr/>
        </p:nvSpPr>
        <p:spPr>
          <a:xfrm>
            <a:off x="2217420" y="3611880"/>
            <a:ext cx="489204" cy="347472"/>
          </a:xfrm>
          <a:prstGeom prst="roundRect">
            <a:avLst>
              <a:gd name="adj" fmla="val 50000"/>
            </a:avLst>
          </a:prstGeom>
          <a:solidFill>
            <a:schemeClr val="bg2"/>
          </a:solidFill>
          <a:ln w="9525">
            <a:solidFill>
              <a:srgbClr val="D9D5F7"/>
            </a:solidFill>
            <a:prstDash val="solid"/>
          </a:ln>
        </p:spPr>
      </p:sp>
      <p:sp>
        <p:nvSpPr>
          <p:cNvPr id="12" name="Chữ chip Giờ"/>
          <p:cNvSpPr txBox="1"/>
          <p:nvPr/>
        </p:nvSpPr>
        <p:spPr>
          <a:xfrm>
            <a:off x="2217420" y="3611880"/>
            <a:ext cx="489204" cy="347472"/>
          </a:xfrm>
          <a:prstGeom prst="rect">
            <a:avLst/>
          </a:prstGeom>
          <a:noFill/>
          <a:ln/>
        </p:spPr>
        <p:txBody>
          <a:bodyPr wrap="square" lIns="0" tIns="0" rIns="0" bIns="0" rtlCol="0" anchor="ctr"/>
          <a:lstStyle/>
          <a:p>
            <a:pPr algn="ctr" indent="0" marL="0">
              <a:buNone/>
            </a:pPr>
            <a:r>
              <a:rPr lang="en-US" sz="1400" b="1" dirty="0">
                <a:solidFill>
                  <a:schemeClr val="accent1"/>
                </a:solidFill>
              </a:rPr>
              <a:t>Giờ</a:t>
            </a:r>
            <a:endParaRPr lang="en-US" sz="1400" dirty="0"/>
          </a:p>
        </p:txBody>
      </p:sp>
      <p:sp>
        <p:nvSpPr>
          <p:cNvPr id="13" name="Chip Lặp"/>
          <p:cNvSpPr/>
          <p:nvPr/>
        </p:nvSpPr>
        <p:spPr>
          <a:xfrm>
            <a:off x="2816352" y="3611880"/>
            <a:ext cx="489204" cy="347472"/>
          </a:xfrm>
          <a:prstGeom prst="roundRect">
            <a:avLst>
              <a:gd name="adj" fmla="val 50000"/>
            </a:avLst>
          </a:prstGeom>
          <a:solidFill>
            <a:schemeClr val="bg2"/>
          </a:solidFill>
          <a:ln w="9525">
            <a:solidFill>
              <a:srgbClr val="D9D5F7"/>
            </a:solidFill>
            <a:prstDash val="solid"/>
          </a:ln>
        </p:spPr>
      </p:sp>
      <p:sp>
        <p:nvSpPr>
          <p:cNvPr id="14" name="Chữ chip Lặp"/>
          <p:cNvSpPr txBox="1"/>
          <p:nvPr/>
        </p:nvSpPr>
        <p:spPr>
          <a:xfrm>
            <a:off x="2816352" y="3611880"/>
            <a:ext cx="489204" cy="347472"/>
          </a:xfrm>
          <a:prstGeom prst="rect">
            <a:avLst/>
          </a:prstGeom>
          <a:noFill/>
          <a:ln/>
        </p:spPr>
        <p:txBody>
          <a:bodyPr wrap="square" lIns="0" tIns="0" rIns="0" bIns="0" rtlCol="0" anchor="ctr"/>
          <a:lstStyle/>
          <a:p>
            <a:pPr algn="ctr" indent="0" marL="0">
              <a:buNone/>
            </a:pPr>
            <a:r>
              <a:rPr lang="en-US" sz="1400" b="1" dirty="0">
                <a:solidFill>
                  <a:schemeClr val="accent1"/>
                </a:solidFill>
              </a:rPr>
              <a:t>Lặp</a:t>
            </a:r>
            <a:endParaRPr lang="en-US" sz="1400" dirty="0"/>
          </a:p>
        </p:txBody>
      </p:sp>
      <p:sp>
        <p:nvSpPr>
          <p:cNvPr id="15" name="Chip Khoảng ngày"/>
          <p:cNvSpPr/>
          <p:nvPr/>
        </p:nvSpPr>
        <p:spPr>
          <a:xfrm>
            <a:off x="3415284" y="3611880"/>
            <a:ext cx="1257300" cy="347472"/>
          </a:xfrm>
          <a:prstGeom prst="roundRect">
            <a:avLst>
              <a:gd name="adj" fmla="val 50000"/>
            </a:avLst>
          </a:prstGeom>
          <a:solidFill>
            <a:schemeClr val="bg2"/>
          </a:solidFill>
          <a:ln w="9525">
            <a:solidFill>
              <a:srgbClr val="D9D5F7"/>
            </a:solidFill>
            <a:prstDash val="solid"/>
          </a:ln>
        </p:spPr>
      </p:sp>
      <p:sp>
        <p:nvSpPr>
          <p:cNvPr id="16" name="Chữ chip Khoảng ngày"/>
          <p:cNvSpPr txBox="1"/>
          <p:nvPr/>
        </p:nvSpPr>
        <p:spPr>
          <a:xfrm>
            <a:off x="3415284" y="3611880"/>
            <a:ext cx="1257300" cy="347472"/>
          </a:xfrm>
          <a:prstGeom prst="rect">
            <a:avLst/>
          </a:prstGeom>
          <a:noFill/>
          <a:ln/>
        </p:spPr>
        <p:txBody>
          <a:bodyPr wrap="square" lIns="0" tIns="0" rIns="0" bIns="0" rtlCol="0" anchor="ctr"/>
          <a:lstStyle/>
          <a:p>
            <a:pPr algn="ctr" indent="0" marL="0">
              <a:buNone/>
            </a:pPr>
            <a:r>
              <a:rPr lang="en-US" sz="1400" b="1" dirty="0">
                <a:solidFill>
                  <a:schemeClr val="accent1"/>
                </a:solidFill>
              </a:rPr>
              <a:t>Khoảng ngày</a:t>
            </a:r>
            <a:endParaRPr lang="en-US" sz="1400" dirty="0"/>
          </a:p>
        </p:txBody>
      </p:sp>
      <p:sp>
        <p:nvSpPr>
          <p:cNvPr id="17" name="Ghi chú xác nhận"/>
          <p:cNvSpPr txBox="1"/>
          <p:nvPr/>
        </p:nvSpPr>
        <p:spPr>
          <a:xfrm>
            <a:off x="457200" y="4114800"/>
            <a:ext cx="4297680" cy="365760"/>
          </a:xfrm>
          <a:prstGeom prst="rect">
            <a:avLst/>
          </a:prstGeom>
          <a:noFill/>
          <a:ln/>
        </p:spPr>
        <p:txBody>
          <a:bodyPr wrap="square" lIns="0" tIns="0" rIns="0" bIns="0" rtlCol="0" anchor="ctr"/>
          <a:lstStyle/>
          <a:p>
            <a:pPr algn="ctr" indent="0" marL="0">
              <a:buNone/>
            </a:pPr>
            <a:r>
              <a:rPr lang="en-US" sz="1600" b="1" dirty="0">
                <a:solidFill>
                  <a:schemeClr val="accent4"/>
                </a:solidFill>
              </a:rPr>
              <a:t>Luôn xác nhận trước khi lưu</a:t>
            </a:r>
            <a:endParaRPr lang="en-US" sz="1600" dirty="0"/>
          </a:p>
        </p:txBody>
      </p:sp>
      <p:sp>
        <p:nvSpPr>
          <p:cNvPr id="18" name="Cửa sổ xác nhận lịch khung"/>
          <p:cNvSpPr/>
          <p:nvPr/>
        </p:nvSpPr>
        <p:spPr>
          <a:xfrm>
            <a:off x="5787883" y="1042416"/>
            <a:ext cx="2368834" cy="3675888"/>
          </a:xfrm>
          <a:prstGeom prst="roundRect">
            <a:avLst>
              <a:gd name="adj" fmla="val 4632"/>
            </a:avLst>
          </a:prstGeom>
          <a:solidFill>
            <a:schemeClr val="bg1"/>
          </a:solidFill>
          <a:ln w="9525">
            <a:solidFill>
              <a:srgbClr val="E4E2F4"/>
            </a:solidFill>
            <a:prstDash val="solid"/>
          </a:ln>
          <a:effectLst>
            <a:outerShdw sx="100000" sy="100000" kx="0" ky="0" algn="bl" rotWithShape="0" blurRad="101600" dist="25400" dir="5400000">
              <a:srgbClr val="1B1840">
                <a:alpha val="12000"/>
              </a:srgbClr>
            </a:outerShdw>
          </a:effectLst>
        </p:spPr>
      </p:sp>
      <p:pic>
        <p:nvPicPr>
          <p:cNvPr id="19" name="Cửa sổ xác nhận lịch" descr="Cửa sổ xác nhận lịch">    </p:cNvPr>
          <p:cNvPicPr>
            <a:picLocks noChangeAspect="1"/>
          </p:cNvPicPr>
          <p:nvPr/>
        </p:nvPicPr>
        <p:blipFill>
          <a:blip r:embed="rId3"/>
          <a:stretch>
            <a:fillRect/>
          </a:stretch>
        </p:blipFill>
        <p:spPr>
          <a:xfrm>
            <a:off x="5842747" y="1097280"/>
            <a:ext cx="2259106" cy="3566160"/>
          </a:xfrm>
          <a:prstGeom prst="rect">
            <a:avLst/>
          </a:prstGeom>
        </p:spPr>
      </p:pic>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1"/>
                </a:solidFill>
              </a:rPr>
              <a:t>Làm việc nhóm</a:t>
            </a:r>
            <a:endParaRPr lang="en-US" sz="3600" dirty="0"/>
          </a:p>
        </p:txBody>
      </p:sp>
      <p:sp>
        <p:nvSpPr>
          <p:cNvPr id="3" name="Ý 1 vòng"/>
          <p:cNvSpPr/>
          <p:nvPr/>
        </p:nvSpPr>
        <p:spPr>
          <a:xfrm>
            <a:off x="457200" y="1371600"/>
            <a:ext cx="512064" cy="512064"/>
          </a:xfrm>
          <a:prstGeom prst="ellipse">
            <a:avLst/>
          </a:prstGeom>
          <a:solidFill>
            <a:srgbClr val="6759E8"/>
          </a:solidFill>
          <a:ln w="12700">
            <a:solidFill>
              <a:srgbClr val="6759E8"/>
            </a:solidFill>
            <a:prstDash val="solid"/>
          </a:ln>
        </p:spPr>
      </p:sp>
      <p:pic>
        <p:nvPicPr>
          <p:cNvPr id="4" name="Ý 1 biểu tượng" descr="Mời bằng liên kết">    </p:cNvPr>
          <p:cNvPicPr>
            <a:picLocks noChangeAspect="1"/>
          </p:cNvPicPr>
          <p:nvPr/>
        </p:nvPicPr>
        <p:blipFill>
          <a:blip r:embed="rId1"/>
          <a:stretch>
            <a:fillRect/>
          </a:stretch>
        </p:blipFill>
        <p:spPr>
          <a:xfrm>
            <a:off x="585216" y="1499616"/>
            <a:ext cx="256032" cy="256032"/>
          </a:xfrm>
          <a:prstGeom prst="rect">
            <a:avLst/>
          </a:prstGeom>
        </p:spPr>
      </p:pic>
      <p:sp>
        <p:nvSpPr>
          <p:cNvPr id="5" name="Ý 1 tiêu đề"/>
          <p:cNvSpPr txBox="1"/>
          <p:nvPr/>
        </p:nvSpPr>
        <p:spPr>
          <a:xfrm>
            <a:off x="1115568" y="1353312"/>
            <a:ext cx="2359152" cy="292608"/>
          </a:xfrm>
          <a:prstGeom prst="rect">
            <a:avLst/>
          </a:prstGeom>
          <a:noFill/>
          <a:ln/>
        </p:spPr>
        <p:txBody>
          <a:bodyPr wrap="square" lIns="0" tIns="0" rIns="0" bIns="0" rtlCol="0" anchor="t"/>
          <a:lstStyle/>
          <a:p>
            <a:pPr indent="0" marL="0">
              <a:buNone/>
            </a:pPr>
            <a:r>
              <a:rPr lang="en-US" sz="1800" b="1" dirty="0">
                <a:solidFill>
                  <a:schemeClr val="tx1"/>
                </a:solidFill>
              </a:rPr>
              <a:t>Mời bằng liên kết</a:t>
            </a:r>
            <a:endParaRPr lang="en-US" sz="1800" dirty="0"/>
          </a:p>
        </p:txBody>
      </p:sp>
      <p:sp>
        <p:nvSpPr>
          <p:cNvPr id="6" name="Ý 1 mô tả"/>
          <p:cNvSpPr txBox="1"/>
          <p:nvPr/>
        </p:nvSpPr>
        <p:spPr>
          <a:xfrm>
            <a:off x="1115568" y="1645920"/>
            <a:ext cx="2359152" cy="502920"/>
          </a:xfrm>
          <a:prstGeom prst="rect">
            <a:avLst/>
          </a:prstGeom>
          <a:noFill/>
          <a:ln/>
        </p:spPr>
        <p:txBody>
          <a:bodyPr wrap="square" lIns="0" tIns="0" rIns="0" bIns="0" rtlCol="0" anchor="t"/>
          <a:lstStyle/>
          <a:p>
            <a:pPr indent="0" marL="0">
              <a:buNone/>
            </a:pPr>
            <a:r>
              <a:rPr lang="en-US" sz="1400" dirty="0">
                <a:solidFill>
                  <a:srgbClr val="5B6482"/>
                </a:solidFill>
              </a:rPr>
              <a:t>Người nhận bấm Tham gia</a:t>
            </a:r>
            <a:endParaRPr lang="en-US" sz="1400" dirty="0"/>
          </a:p>
        </p:txBody>
      </p:sp>
      <p:sp>
        <p:nvSpPr>
          <p:cNvPr id="7" name="Ý 2 vòng"/>
          <p:cNvSpPr/>
          <p:nvPr/>
        </p:nvSpPr>
        <p:spPr>
          <a:xfrm>
            <a:off x="457200" y="2468880"/>
            <a:ext cx="512064" cy="512064"/>
          </a:xfrm>
          <a:prstGeom prst="ellipse">
            <a:avLst/>
          </a:prstGeom>
          <a:solidFill>
            <a:srgbClr val="1C9B72"/>
          </a:solidFill>
          <a:ln w="12700">
            <a:solidFill>
              <a:srgbClr val="1C9B72"/>
            </a:solidFill>
            <a:prstDash val="solid"/>
          </a:ln>
        </p:spPr>
      </p:sp>
      <p:pic>
        <p:nvPicPr>
          <p:cNvPr id="8" name="Ý 2 biểu tượng" descr="Người phụ trách">    </p:cNvPr>
          <p:cNvPicPr>
            <a:picLocks noChangeAspect="1"/>
          </p:cNvPicPr>
          <p:nvPr/>
        </p:nvPicPr>
        <p:blipFill>
          <a:blip r:embed="rId2"/>
          <a:stretch>
            <a:fillRect/>
          </a:stretch>
        </p:blipFill>
        <p:spPr>
          <a:xfrm>
            <a:off x="585216" y="2596896"/>
            <a:ext cx="256032" cy="256032"/>
          </a:xfrm>
          <a:prstGeom prst="rect">
            <a:avLst/>
          </a:prstGeom>
        </p:spPr>
      </p:pic>
      <p:sp>
        <p:nvSpPr>
          <p:cNvPr id="9" name="Ý 2 tiêu đề"/>
          <p:cNvSpPr txBox="1"/>
          <p:nvPr/>
        </p:nvSpPr>
        <p:spPr>
          <a:xfrm>
            <a:off x="1115568" y="2450592"/>
            <a:ext cx="2359152" cy="292608"/>
          </a:xfrm>
          <a:prstGeom prst="rect">
            <a:avLst/>
          </a:prstGeom>
          <a:noFill/>
          <a:ln/>
        </p:spPr>
        <p:txBody>
          <a:bodyPr wrap="square" lIns="0" tIns="0" rIns="0" bIns="0" rtlCol="0" anchor="t"/>
          <a:lstStyle/>
          <a:p>
            <a:pPr indent="0" marL="0">
              <a:buNone/>
            </a:pPr>
            <a:r>
              <a:rPr lang="en-US" sz="1800" b="1" dirty="0">
                <a:solidFill>
                  <a:schemeClr val="tx1"/>
                </a:solidFill>
              </a:rPr>
              <a:t>Người phụ trách</a:t>
            </a:r>
            <a:endParaRPr lang="en-US" sz="1800" dirty="0"/>
          </a:p>
        </p:txBody>
      </p:sp>
      <p:sp>
        <p:nvSpPr>
          <p:cNvPr id="10" name="Ý 2 mô tả"/>
          <p:cNvSpPr txBox="1"/>
          <p:nvPr/>
        </p:nvSpPr>
        <p:spPr>
          <a:xfrm>
            <a:off x="1115568" y="2743200"/>
            <a:ext cx="2359152" cy="502920"/>
          </a:xfrm>
          <a:prstGeom prst="rect">
            <a:avLst/>
          </a:prstGeom>
          <a:noFill/>
          <a:ln/>
        </p:spPr>
        <p:txBody>
          <a:bodyPr wrap="square" lIns="0" tIns="0" rIns="0" bIns="0" rtlCol="0" anchor="t"/>
          <a:lstStyle/>
          <a:p>
            <a:pPr indent="0" marL="0">
              <a:buNone/>
            </a:pPr>
            <a:r>
              <a:rPr lang="en-US" sz="1400" dirty="0">
                <a:solidFill>
                  <a:srgbClr val="5B6482"/>
                </a:solidFill>
              </a:rPr>
              <a:t>Gắn tên cho từng thẻ</a:t>
            </a:r>
            <a:endParaRPr lang="en-US" sz="1400" dirty="0"/>
          </a:p>
        </p:txBody>
      </p:sp>
      <p:sp>
        <p:nvSpPr>
          <p:cNvPr id="11" name="Ý 3 vòng"/>
          <p:cNvSpPr/>
          <p:nvPr/>
        </p:nvSpPr>
        <p:spPr>
          <a:xfrm>
            <a:off x="457200" y="3566160"/>
            <a:ext cx="512064" cy="512064"/>
          </a:xfrm>
          <a:prstGeom prst="ellipse">
            <a:avLst/>
          </a:prstGeom>
          <a:solidFill>
            <a:srgbClr val="D65363"/>
          </a:solidFill>
          <a:ln w="12700">
            <a:solidFill>
              <a:srgbClr val="D65363"/>
            </a:solidFill>
            <a:prstDash val="solid"/>
          </a:ln>
        </p:spPr>
      </p:sp>
      <p:pic>
        <p:nvPicPr>
          <p:cNvPr id="12" name="Ý 3 biểu tượng" descr="@nhắc tên">    </p:cNvPr>
          <p:cNvPicPr>
            <a:picLocks noChangeAspect="1"/>
          </p:cNvPicPr>
          <p:nvPr/>
        </p:nvPicPr>
        <p:blipFill>
          <a:blip r:embed="rId3"/>
          <a:stretch>
            <a:fillRect/>
          </a:stretch>
        </p:blipFill>
        <p:spPr>
          <a:xfrm>
            <a:off x="585216" y="3694176"/>
            <a:ext cx="256032" cy="256032"/>
          </a:xfrm>
          <a:prstGeom prst="rect">
            <a:avLst/>
          </a:prstGeom>
        </p:spPr>
      </p:pic>
      <p:sp>
        <p:nvSpPr>
          <p:cNvPr id="13" name="Ý 3 tiêu đề"/>
          <p:cNvSpPr txBox="1"/>
          <p:nvPr/>
        </p:nvSpPr>
        <p:spPr>
          <a:xfrm>
            <a:off x="1115568" y="3547872"/>
            <a:ext cx="2359152" cy="292608"/>
          </a:xfrm>
          <a:prstGeom prst="rect">
            <a:avLst/>
          </a:prstGeom>
          <a:noFill/>
          <a:ln/>
        </p:spPr>
        <p:txBody>
          <a:bodyPr wrap="square" lIns="0" tIns="0" rIns="0" bIns="0" rtlCol="0" anchor="t"/>
          <a:lstStyle/>
          <a:p>
            <a:pPr indent="0" marL="0">
              <a:buNone/>
            </a:pPr>
            <a:r>
              <a:rPr lang="en-US" sz="1800" b="1" dirty="0">
                <a:solidFill>
                  <a:schemeClr val="tx1"/>
                </a:solidFill>
              </a:rPr>
              <a:t>@nhắc tên</a:t>
            </a:r>
            <a:endParaRPr lang="en-US" sz="1800" dirty="0"/>
          </a:p>
        </p:txBody>
      </p:sp>
      <p:sp>
        <p:nvSpPr>
          <p:cNvPr id="14" name="Ý 3 mô tả"/>
          <p:cNvSpPr txBox="1"/>
          <p:nvPr/>
        </p:nvSpPr>
        <p:spPr>
          <a:xfrm>
            <a:off x="1115568" y="3840480"/>
            <a:ext cx="2359152" cy="502920"/>
          </a:xfrm>
          <a:prstGeom prst="rect">
            <a:avLst/>
          </a:prstGeom>
          <a:noFill/>
          <a:ln/>
        </p:spPr>
        <p:txBody>
          <a:bodyPr wrap="square" lIns="0" tIns="0" rIns="0" bIns="0" rtlCol="0" anchor="t"/>
          <a:lstStyle/>
          <a:p>
            <a:pPr indent="0" marL="0">
              <a:buNone/>
            </a:pPr>
            <a:r>
              <a:rPr lang="en-US" sz="1400" dirty="0">
                <a:solidFill>
                  <a:srgbClr val="5B6482"/>
                </a:solidFill>
              </a:rPr>
              <a:t>Báo ngay ở chuông thông báo</a:t>
            </a:r>
            <a:endParaRPr lang="en-US" sz="1400" dirty="0"/>
          </a:p>
        </p:txBody>
      </p:sp>
      <p:sp>
        <p:nvSpPr>
          <p:cNvPr id="15" name="Chế độ theo người khung"/>
          <p:cNvSpPr/>
          <p:nvPr/>
        </p:nvSpPr>
        <p:spPr>
          <a:xfrm>
            <a:off x="3694176" y="1628783"/>
            <a:ext cx="5047488" cy="2411714"/>
          </a:xfrm>
          <a:prstGeom prst="roundRect">
            <a:avLst>
              <a:gd name="adj" fmla="val 4550"/>
            </a:avLst>
          </a:prstGeom>
          <a:solidFill>
            <a:schemeClr val="bg1"/>
          </a:solidFill>
          <a:ln w="9525">
            <a:solidFill>
              <a:srgbClr val="E4E2F4"/>
            </a:solidFill>
            <a:prstDash val="solid"/>
          </a:ln>
          <a:effectLst>
            <a:outerShdw sx="100000" sy="100000" kx="0" ky="0" algn="bl" rotWithShape="0" blurRad="101600" dist="25400" dir="5400000">
              <a:srgbClr val="1B1840">
                <a:alpha val="12000"/>
              </a:srgbClr>
            </a:outerShdw>
          </a:effectLst>
        </p:spPr>
      </p:sp>
      <p:pic>
        <p:nvPicPr>
          <p:cNvPr id="16" name="Chế độ theo người" descr="Chế độ theo người">    </p:cNvPr>
          <p:cNvPicPr>
            <a:picLocks noChangeAspect="1"/>
          </p:cNvPicPr>
          <p:nvPr/>
        </p:nvPicPr>
        <p:blipFill>
          <a:blip r:embed="rId4"/>
          <a:stretch>
            <a:fillRect/>
          </a:stretch>
        </p:blipFill>
        <p:spPr>
          <a:xfrm>
            <a:off x="3749040" y="1683647"/>
            <a:ext cx="4937760" cy="2301986"/>
          </a:xfrm>
          <a:prstGeom prst="rect">
            <a:avLst/>
          </a:prstGeom>
        </p:spPr>
      </p:pic>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1"/>
                </a:solidFill>
              </a:rPr>
              <a:t>Ba cách theo dõi dự án</a:t>
            </a:r>
            <a:endParaRPr lang="en-US" sz="3600" dirty="0"/>
          </a:p>
        </p:txBody>
      </p:sp>
      <p:sp>
        <p:nvSpPr>
          <p:cNvPr id="3" name="Chế độ theo sprint khung"/>
          <p:cNvSpPr/>
          <p:nvPr/>
        </p:nvSpPr>
        <p:spPr>
          <a:xfrm>
            <a:off x="402336" y="1229168"/>
            <a:ext cx="5504688" cy="3119504"/>
          </a:xfrm>
          <a:prstGeom prst="roundRect">
            <a:avLst>
              <a:gd name="adj" fmla="val 3517"/>
            </a:avLst>
          </a:prstGeom>
          <a:solidFill>
            <a:schemeClr val="bg1"/>
          </a:solidFill>
          <a:ln w="9525">
            <a:solidFill>
              <a:srgbClr val="E4E2F4"/>
            </a:solidFill>
            <a:prstDash val="solid"/>
          </a:ln>
          <a:effectLst>
            <a:outerShdw sx="100000" sy="100000" kx="0" ky="0" algn="bl" rotWithShape="0" blurRad="101600" dist="25400" dir="5400000">
              <a:srgbClr val="1B1840">
                <a:alpha val="12000"/>
              </a:srgbClr>
            </a:outerShdw>
          </a:effectLst>
        </p:spPr>
      </p:sp>
      <p:pic>
        <p:nvPicPr>
          <p:cNvPr id="4" name="Chế độ theo sprint" descr="Chế độ theo sprint">    </p:cNvPr>
          <p:cNvPicPr>
            <a:picLocks noChangeAspect="1"/>
          </p:cNvPicPr>
          <p:nvPr/>
        </p:nvPicPr>
        <p:blipFill>
          <a:blip r:embed="rId1"/>
          <a:stretch>
            <a:fillRect/>
          </a:stretch>
        </p:blipFill>
        <p:spPr>
          <a:xfrm>
            <a:off x="457200" y="1284032"/>
            <a:ext cx="5394960" cy="3009776"/>
          </a:xfrm>
          <a:prstGeom prst="rect">
            <a:avLst/>
          </a:prstGeom>
        </p:spPr>
      </p:pic>
      <p:sp>
        <p:nvSpPr>
          <p:cNvPr id="5" name="Chế độ 1 vòng"/>
          <p:cNvSpPr/>
          <p:nvPr/>
        </p:nvSpPr>
        <p:spPr>
          <a:xfrm>
            <a:off x="6172200" y="1371600"/>
            <a:ext cx="512064" cy="512064"/>
          </a:xfrm>
          <a:prstGeom prst="ellipse">
            <a:avLst/>
          </a:prstGeom>
          <a:solidFill>
            <a:srgbClr val="3C8D9C"/>
          </a:solidFill>
          <a:ln w="12700">
            <a:solidFill>
              <a:srgbClr val="3C8D9C"/>
            </a:solidFill>
            <a:prstDash val="solid"/>
          </a:ln>
        </p:spPr>
      </p:sp>
      <p:pic>
        <p:nvPicPr>
          <p:cNvPr id="6" name="Chế độ 1 biểu tượng" descr="Bảng chung">    </p:cNvPr>
          <p:cNvPicPr>
            <a:picLocks noChangeAspect="1"/>
          </p:cNvPicPr>
          <p:nvPr/>
        </p:nvPicPr>
        <p:blipFill>
          <a:blip r:embed="rId2"/>
          <a:stretch>
            <a:fillRect/>
          </a:stretch>
        </p:blipFill>
        <p:spPr>
          <a:xfrm>
            <a:off x="6300216" y="1499616"/>
            <a:ext cx="256032" cy="256032"/>
          </a:xfrm>
          <a:prstGeom prst="rect">
            <a:avLst/>
          </a:prstGeom>
        </p:spPr>
      </p:pic>
      <p:sp>
        <p:nvSpPr>
          <p:cNvPr id="7" name="Chế độ 1 tiêu đề"/>
          <p:cNvSpPr txBox="1"/>
          <p:nvPr/>
        </p:nvSpPr>
        <p:spPr>
          <a:xfrm>
            <a:off x="6830568" y="1353312"/>
            <a:ext cx="1856232" cy="292608"/>
          </a:xfrm>
          <a:prstGeom prst="rect">
            <a:avLst/>
          </a:prstGeom>
          <a:noFill/>
          <a:ln/>
        </p:spPr>
        <p:txBody>
          <a:bodyPr wrap="square" lIns="0" tIns="0" rIns="0" bIns="0" rtlCol="0" anchor="t"/>
          <a:lstStyle/>
          <a:p>
            <a:pPr indent="0" marL="0">
              <a:buNone/>
            </a:pPr>
            <a:r>
              <a:rPr lang="en-US" sz="1800" b="1" dirty="0">
                <a:solidFill>
                  <a:schemeClr val="tx1"/>
                </a:solidFill>
              </a:rPr>
              <a:t>Bảng chung</a:t>
            </a:r>
            <a:endParaRPr lang="en-US" sz="1800" dirty="0"/>
          </a:p>
        </p:txBody>
      </p:sp>
      <p:sp>
        <p:nvSpPr>
          <p:cNvPr id="8" name="Chế độ 1 mô tả"/>
          <p:cNvSpPr txBox="1"/>
          <p:nvPr/>
        </p:nvSpPr>
        <p:spPr>
          <a:xfrm>
            <a:off x="6830568" y="1645920"/>
            <a:ext cx="1856232" cy="502920"/>
          </a:xfrm>
          <a:prstGeom prst="rect">
            <a:avLst/>
          </a:prstGeom>
          <a:noFill/>
          <a:ln/>
        </p:spPr>
        <p:txBody>
          <a:bodyPr wrap="square" lIns="0" tIns="0" rIns="0" bIns="0" rtlCol="0" anchor="t"/>
          <a:lstStyle/>
          <a:p>
            <a:pPr indent="0" marL="0">
              <a:buNone/>
            </a:pPr>
            <a:r>
              <a:rPr lang="en-US" sz="1400" dirty="0">
                <a:solidFill>
                  <a:srgbClr val="5B6482"/>
                </a:solidFill>
              </a:rPr>
              <a:t>Xem theo cột như thông thường</a:t>
            </a:r>
            <a:endParaRPr lang="en-US" sz="1400" dirty="0"/>
          </a:p>
        </p:txBody>
      </p:sp>
      <p:sp>
        <p:nvSpPr>
          <p:cNvPr id="9" name="Chế độ 2 vòng"/>
          <p:cNvSpPr/>
          <p:nvPr/>
        </p:nvSpPr>
        <p:spPr>
          <a:xfrm>
            <a:off x="6172200" y="2468880"/>
            <a:ext cx="512064" cy="512064"/>
          </a:xfrm>
          <a:prstGeom prst="ellipse">
            <a:avLst/>
          </a:prstGeom>
          <a:solidFill>
            <a:srgbClr val="6759E8"/>
          </a:solidFill>
          <a:ln w="12700">
            <a:solidFill>
              <a:srgbClr val="6759E8"/>
            </a:solidFill>
            <a:prstDash val="solid"/>
          </a:ln>
        </p:spPr>
      </p:sp>
      <p:pic>
        <p:nvPicPr>
          <p:cNvPr id="10" name="Chế độ 2 biểu tượng" descr="Theo sprint">    </p:cNvPr>
          <p:cNvPicPr>
            <a:picLocks noChangeAspect="1"/>
          </p:cNvPicPr>
          <p:nvPr/>
        </p:nvPicPr>
        <p:blipFill>
          <a:blip r:embed="rId3"/>
          <a:stretch>
            <a:fillRect/>
          </a:stretch>
        </p:blipFill>
        <p:spPr>
          <a:xfrm>
            <a:off x="6300216" y="2596896"/>
            <a:ext cx="256032" cy="256032"/>
          </a:xfrm>
          <a:prstGeom prst="rect">
            <a:avLst/>
          </a:prstGeom>
        </p:spPr>
      </p:pic>
      <p:sp>
        <p:nvSpPr>
          <p:cNvPr id="11" name="Chế độ 2 tiêu đề"/>
          <p:cNvSpPr txBox="1"/>
          <p:nvPr/>
        </p:nvSpPr>
        <p:spPr>
          <a:xfrm>
            <a:off x="6830568" y="2450592"/>
            <a:ext cx="1856232" cy="292608"/>
          </a:xfrm>
          <a:prstGeom prst="rect">
            <a:avLst/>
          </a:prstGeom>
          <a:noFill/>
          <a:ln/>
        </p:spPr>
        <p:txBody>
          <a:bodyPr wrap="square" lIns="0" tIns="0" rIns="0" bIns="0" rtlCol="0" anchor="t"/>
          <a:lstStyle/>
          <a:p>
            <a:pPr indent="0" marL="0">
              <a:buNone/>
            </a:pPr>
            <a:r>
              <a:rPr lang="en-US" sz="1800" b="1" dirty="0">
                <a:solidFill>
                  <a:schemeClr val="tx1"/>
                </a:solidFill>
              </a:rPr>
              <a:t>Theo sprint</a:t>
            </a:r>
            <a:endParaRPr lang="en-US" sz="1800" dirty="0"/>
          </a:p>
        </p:txBody>
      </p:sp>
      <p:sp>
        <p:nvSpPr>
          <p:cNvPr id="12" name="Chế độ 2 mô tả"/>
          <p:cNvSpPr txBox="1"/>
          <p:nvPr/>
        </p:nvSpPr>
        <p:spPr>
          <a:xfrm>
            <a:off x="6830568" y="2743200"/>
            <a:ext cx="1856232" cy="502920"/>
          </a:xfrm>
          <a:prstGeom prst="rect">
            <a:avLst/>
          </a:prstGeom>
          <a:noFill/>
          <a:ln/>
        </p:spPr>
        <p:txBody>
          <a:bodyPr wrap="square" lIns="0" tIns="0" rIns="0" bIns="0" rtlCol="0" anchor="t"/>
          <a:lstStyle/>
          <a:p>
            <a:pPr indent="0" marL="0">
              <a:buNone/>
            </a:pPr>
            <a:r>
              <a:rPr lang="en-US" sz="1400" dirty="0">
                <a:solidFill>
                  <a:srgbClr val="5B6482"/>
                </a:solidFill>
              </a:rPr>
              <a:t>Tiến độ từng giai đoạn</a:t>
            </a:r>
            <a:endParaRPr lang="en-US" sz="1400" dirty="0"/>
          </a:p>
        </p:txBody>
      </p:sp>
      <p:sp>
        <p:nvSpPr>
          <p:cNvPr id="13" name="Chế độ 3 vòng"/>
          <p:cNvSpPr/>
          <p:nvPr/>
        </p:nvSpPr>
        <p:spPr>
          <a:xfrm>
            <a:off x="6172200" y="3566160"/>
            <a:ext cx="512064" cy="512064"/>
          </a:xfrm>
          <a:prstGeom prst="ellipse">
            <a:avLst/>
          </a:prstGeom>
          <a:solidFill>
            <a:srgbClr val="1C9B72"/>
          </a:solidFill>
          <a:ln w="12700">
            <a:solidFill>
              <a:srgbClr val="1C9B72"/>
            </a:solidFill>
            <a:prstDash val="solid"/>
          </a:ln>
        </p:spPr>
      </p:sp>
      <p:pic>
        <p:nvPicPr>
          <p:cNvPr id="14" name="Chế độ 3 biểu tượng" descr="Theo người">    </p:cNvPr>
          <p:cNvPicPr>
            <a:picLocks noChangeAspect="1"/>
          </p:cNvPicPr>
          <p:nvPr/>
        </p:nvPicPr>
        <p:blipFill>
          <a:blip r:embed="rId4"/>
          <a:stretch>
            <a:fillRect/>
          </a:stretch>
        </p:blipFill>
        <p:spPr>
          <a:xfrm>
            <a:off x="6300216" y="3694176"/>
            <a:ext cx="256032" cy="256032"/>
          </a:xfrm>
          <a:prstGeom prst="rect">
            <a:avLst/>
          </a:prstGeom>
        </p:spPr>
      </p:pic>
      <p:sp>
        <p:nvSpPr>
          <p:cNvPr id="15" name="Chế độ 3 tiêu đề"/>
          <p:cNvSpPr txBox="1"/>
          <p:nvPr/>
        </p:nvSpPr>
        <p:spPr>
          <a:xfrm>
            <a:off x="6830568" y="3547872"/>
            <a:ext cx="1856232" cy="292608"/>
          </a:xfrm>
          <a:prstGeom prst="rect">
            <a:avLst/>
          </a:prstGeom>
          <a:noFill/>
          <a:ln/>
        </p:spPr>
        <p:txBody>
          <a:bodyPr wrap="square" lIns="0" tIns="0" rIns="0" bIns="0" rtlCol="0" anchor="t"/>
          <a:lstStyle/>
          <a:p>
            <a:pPr indent="0" marL="0">
              <a:buNone/>
            </a:pPr>
            <a:r>
              <a:rPr lang="en-US" sz="1800" b="1" dirty="0">
                <a:solidFill>
                  <a:schemeClr val="tx1"/>
                </a:solidFill>
              </a:rPr>
              <a:t>Theo người</a:t>
            </a:r>
            <a:endParaRPr lang="en-US" sz="1800" dirty="0"/>
          </a:p>
        </p:txBody>
      </p:sp>
      <p:sp>
        <p:nvSpPr>
          <p:cNvPr id="16" name="Chế độ 3 mô tả"/>
          <p:cNvSpPr txBox="1"/>
          <p:nvPr/>
        </p:nvSpPr>
        <p:spPr>
          <a:xfrm>
            <a:off x="6830568" y="3840480"/>
            <a:ext cx="1856232" cy="502920"/>
          </a:xfrm>
          <a:prstGeom prst="rect">
            <a:avLst/>
          </a:prstGeom>
          <a:noFill/>
          <a:ln/>
        </p:spPr>
        <p:txBody>
          <a:bodyPr wrap="square" lIns="0" tIns="0" rIns="0" bIns="0" rtlCol="0" anchor="t"/>
          <a:lstStyle/>
          <a:p>
            <a:pPr indent="0" marL="0">
              <a:buNone/>
            </a:pPr>
            <a:r>
              <a:rPr lang="en-US" sz="1400" dirty="0">
                <a:solidFill>
                  <a:srgbClr val="5B6482"/>
                </a:solidFill>
              </a:rPr>
              <a:t>Đầu việc từng thành viên</a:t>
            </a:r>
            <a:endParaRPr lang="en-US" sz="14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1"/>
                </a:solidFill>
              </a:rPr>
              <a:t>Không bỏ sót hạn</a:t>
            </a:r>
            <a:endParaRPr lang="en-US" sz="3600" dirty="0"/>
          </a:p>
        </p:txBody>
      </p:sp>
      <p:sp>
        <p:nvSpPr>
          <p:cNvPr id="3" name="Thông báo quá hạn khung"/>
          <p:cNvSpPr/>
          <p:nvPr/>
        </p:nvSpPr>
        <p:spPr>
          <a:xfrm>
            <a:off x="528835" y="996696"/>
            <a:ext cx="3148569" cy="3721608"/>
          </a:xfrm>
          <a:prstGeom prst="roundRect">
            <a:avLst>
              <a:gd name="adj" fmla="val 3485"/>
            </a:avLst>
          </a:prstGeom>
          <a:solidFill>
            <a:schemeClr val="bg1"/>
          </a:solidFill>
          <a:ln w="9525">
            <a:solidFill>
              <a:srgbClr val="E4E2F4"/>
            </a:solidFill>
            <a:prstDash val="solid"/>
          </a:ln>
          <a:effectLst>
            <a:outerShdw sx="100000" sy="100000" kx="0" ky="0" algn="bl" rotWithShape="0" blurRad="101600" dist="25400" dir="5400000">
              <a:srgbClr val="1B1840">
                <a:alpha val="12000"/>
              </a:srgbClr>
            </a:outerShdw>
          </a:effectLst>
        </p:spPr>
      </p:sp>
      <p:pic>
        <p:nvPicPr>
          <p:cNvPr id="4" name="Thông báo quá hạn" descr="Thông báo quá hạn">    </p:cNvPr>
          <p:cNvPicPr>
            <a:picLocks noChangeAspect="1"/>
          </p:cNvPicPr>
          <p:nvPr/>
        </p:nvPicPr>
        <p:blipFill>
          <a:blip r:embed="rId1"/>
          <a:stretch>
            <a:fillRect/>
          </a:stretch>
        </p:blipFill>
        <p:spPr>
          <a:xfrm>
            <a:off x="583699" y="1051560"/>
            <a:ext cx="3038841" cy="3611880"/>
          </a:xfrm>
          <a:prstGeom prst="rect">
            <a:avLst/>
          </a:prstGeom>
        </p:spPr>
      </p:pic>
      <p:sp>
        <p:nvSpPr>
          <p:cNvPr id="5" name="Ý 1 vòng"/>
          <p:cNvSpPr/>
          <p:nvPr/>
        </p:nvSpPr>
        <p:spPr>
          <a:xfrm>
            <a:off x="4297680" y="1371600"/>
            <a:ext cx="512064" cy="512064"/>
          </a:xfrm>
          <a:prstGeom prst="ellipse">
            <a:avLst/>
          </a:prstGeom>
          <a:solidFill>
            <a:srgbClr val="1C9B72"/>
          </a:solidFill>
          <a:ln w="12700">
            <a:solidFill>
              <a:srgbClr val="1C9B72"/>
            </a:solidFill>
            <a:prstDash val="solid"/>
          </a:ln>
        </p:spPr>
      </p:sp>
      <p:pic>
        <p:nvPicPr>
          <p:cNvPr id="6" name="Ý 1 biểu tượng" descr="Xử lý ngay">    </p:cNvPr>
          <p:cNvPicPr>
            <a:picLocks noChangeAspect="1"/>
          </p:cNvPicPr>
          <p:nvPr/>
        </p:nvPicPr>
        <p:blipFill>
          <a:blip r:embed="rId2"/>
          <a:stretch>
            <a:fillRect/>
          </a:stretch>
        </p:blipFill>
        <p:spPr>
          <a:xfrm>
            <a:off x="4425696" y="1499616"/>
            <a:ext cx="256032" cy="256032"/>
          </a:xfrm>
          <a:prstGeom prst="rect">
            <a:avLst/>
          </a:prstGeom>
        </p:spPr>
      </p:pic>
      <p:sp>
        <p:nvSpPr>
          <p:cNvPr id="7" name="Ý 1 tiêu đề"/>
          <p:cNvSpPr txBox="1"/>
          <p:nvPr/>
        </p:nvSpPr>
        <p:spPr>
          <a:xfrm>
            <a:off x="4956048" y="1353312"/>
            <a:ext cx="3730752" cy="292608"/>
          </a:xfrm>
          <a:prstGeom prst="rect">
            <a:avLst/>
          </a:prstGeom>
          <a:noFill/>
          <a:ln/>
        </p:spPr>
        <p:txBody>
          <a:bodyPr wrap="square" lIns="0" tIns="0" rIns="0" bIns="0" rtlCol="0" anchor="t"/>
          <a:lstStyle/>
          <a:p>
            <a:pPr indent="0" marL="0">
              <a:buNone/>
            </a:pPr>
            <a:r>
              <a:rPr lang="en-US" sz="1800" b="1" dirty="0">
                <a:solidFill>
                  <a:schemeClr val="tx1"/>
                </a:solidFill>
              </a:rPr>
              <a:t>Xử lý ngay</a:t>
            </a:r>
            <a:endParaRPr lang="en-US" sz="1800" dirty="0"/>
          </a:p>
        </p:txBody>
      </p:sp>
      <p:sp>
        <p:nvSpPr>
          <p:cNvPr id="8" name="Ý 1 mô tả"/>
          <p:cNvSpPr txBox="1"/>
          <p:nvPr/>
        </p:nvSpPr>
        <p:spPr>
          <a:xfrm>
            <a:off x="4956048" y="1645920"/>
            <a:ext cx="3730752" cy="502920"/>
          </a:xfrm>
          <a:prstGeom prst="rect">
            <a:avLst/>
          </a:prstGeom>
          <a:noFill/>
          <a:ln/>
        </p:spPr>
        <p:txBody>
          <a:bodyPr wrap="square" lIns="0" tIns="0" rIns="0" bIns="0" rtlCol="0" anchor="t"/>
          <a:lstStyle/>
          <a:p>
            <a:pPr indent="0" marL="0">
              <a:buNone/>
            </a:pPr>
            <a:r>
              <a:rPr lang="en-US" sz="1400" dirty="0">
                <a:solidFill>
                  <a:srgbClr val="5B6482"/>
                </a:solidFill>
              </a:rPr>
              <a:t>Đã hoàn thành hoặc Chưa hoàn thành</a:t>
            </a:r>
            <a:endParaRPr lang="en-US" sz="1400" dirty="0"/>
          </a:p>
        </p:txBody>
      </p:sp>
      <p:sp>
        <p:nvSpPr>
          <p:cNvPr id="9" name="Ý 2 vòng"/>
          <p:cNvSpPr/>
          <p:nvPr/>
        </p:nvSpPr>
        <p:spPr>
          <a:xfrm>
            <a:off x="4297680" y="2468880"/>
            <a:ext cx="512064" cy="512064"/>
          </a:xfrm>
          <a:prstGeom prst="ellipse">
            <a:avLst/>
          </a:prstGeom>
          <a:solidFill>
            <a:srgbClr val="6759E8"/>
          </a:solidFill>
          <a:ln w="12700">
            <a:solidFill>
              <a:srgbClr val="6759E8"/>
            </a:solidFill>
            <a:prstDash val="solid"/>
          </a:ln>
        </p:spPr>
      </p:sp>
      <p:pic>
        <p:nvPicPr>
          <p:cNvPr id="10" name="Ý 2 biểu tượng" descr="Dời hạn mỗi ngày">    </p:cNvPr>
          <p:cNvPicPr>
            <a:picLocks noChangeAspect="1"/>
          </p:cNvPicPr>
          <p:nvPr/>
        </p:nvPicPr>
        <p:blipFill>
          <a:blip r:embed="rId3"/>
          <a:stretch>
            <a:fillRect/>
          </a:stretch>
        </p:blipFill>
        <p:spPr>
          <a:xfrm>
            <a:off x="4425696" y="2596896"/>
            <a:ext cx="256032" cy="256032"/>
          </a:xfrm>
          <a:prstGeom prst="rect">
            <a:avLst/>
          </a:prstGeom>
        </p:spPr>
      </p:pic>
      <p:sp>
        <p:nvSpPr>
          <p:cNvPr id="11" name="Ý 2 tiêu đề"/>
          <p:cNvSpPr txBox="1"/>
          <p:nvPr/>
        </p:nvSpPr>
        <p:spPr>
          <a:xfrm>
            <a:off x="4956048" y="2450592"/>
            <a:ext cx="3730752" cy="292608"/>
          </a:xfrm>
          <a:prstGeom prst="rect">
            <a:avLst/>
          </a:prstGeom>
          <a:noFill/>
          <a:ln/>
        </p:spPr>
        <p:txBody>
          <a:bodyPr wrap="square" lIns="0" tIns="0" rIns="0" bIns="0" rtlCol="0" anchor="t"/>
          <a:lstStyle/>
          <a:p>
            <a:pPr indent="0" marL="0">
              <a:buNone/>
            </a:pPr>
            <a:r>
              <a:rPr lang="en-US" sz="1800" b="1" dirty="0">
                <a:solidFill>
                  <a:schemeClr val="tx1"/>
                </a:solidFill>
              </a:rPr>
              <a:t>Dời hạn mỗi ngày</a:t>
            </a:r>
            <a:endParaRPr lang="en-US" sz="1800" dirty="0"/>
          </a:p>
        </p:txBody>
      </p:sp>
      <p:sp>
        <p:nvSpPr>
          <p:cNvPr id="12" name="Ý 2 mô tả"/>
          <p:cNvSpPr txBox="1"/>
          <p:nvPr/>
        </p:nvSpPr>
        <p:spPr>
          <a:xfrm>
            <a:off x="4956048" y="2743200"/>
            <a:ext cx="3730752" cy="502920"/>
          </a:xfrm>
          <a:prstGeom prst="rect">
            <a:avLst/>
          </a:prstGeom>
          <a:noFill/>
          <a:ln/>
        </p:spPr>
        <p:txBody>
          <a:bodyPr wrap="square" lIns="0" tIns="0" rIns="0" bIns="0" rtlCol="0" anchor="t"/>
          <a:lstStyle/>
          <a:p>
            <a:pPr indent="0" marL="0">
              <a:buNone/>
            </a:pPr>
            <a:r>
              <a:rPr lang="en-US" sz="1400" dirty="0">
                <a:solidFill>
                  <a:srgbClr val="5B6482"/>
                </a:solidFill>
              </a:rPr>
              <a:t>Việc chưa xong: dời hoặc giữ nguyên</a:t>
            </a:r>
            <a:endParaRPr lang="en-US" sz="1400" dirty="0"/>
          </a:p>
        </p:txBody>
      </p:sp>
      <p:sp>
        <p:nvSpPr>
          <p:cNvPr id="13" name="Ý 3 vòng"/>
          <p:cNvSpPr/>
          <p:nvPr/>
        </p:nvSpPr>
        <p:spPr>
          <a:xfrm>
            <a:off x="4297680" y="3566160"/>
            <a:ext cx="512064" cy="512064"/>
          </a:xfrm>
          <a:prstGeom prst="ellipse">
            <a:avLst/>
          </a:prstGeom>
          <a:solidFill>
            <a:srgbClr val="3C8D9C"/>
          </a:solidFill>
          <a:ln w="12700">
            <a:solidFill>
              <a:srgbClr val="3C8D9C"/>
            </a:solidFill>
            <a:prstDash val="solid"/>
          </a:ln>
        </p:spPr>
      </p:sp>
      <p:pic>
        <p:nvPicPr>
          <p:cNvPr id="14" name="Ý 3 biểu tượng" descr="Xuất lịch .ics">    </p:cNvPr>
          <p:cNvPicPr>
            <a:picLocks noChangeAspect="1"/>
          </p:cNvPicPr>
          <p:nvPr/>
        </p:nvPicPr>
        <p:blipFill>
          <a:blip r:embed="rId4"/>
          <a:stretch>
            <a:fillRect/>
          </a:stretch>
        </p:blipFill>
        <p:spPr>
          <a:xfrm>
            <a:off x="4425696" y="3694176"/>
            <a:ext cx="256032" cy="256032"/>
          </a:xfrm>
          <a:prstGeom prst="rect">
            <a:avLst/>
          </a:prstGeom>
        </p:spPr>
      </p:pic>
      <p:sp>
        <p:nvSpPr>
          <p:cNvPr id="15" name="Ý 3 tiêu đề"/>
          <p:cNvSpPr txBox="1"/>
          <p:nvPr/>
        </p:nvSpPr>
        <p:spPr>
          <a:xfrm>
            <a:off x="4956048" y="3547872"/>
            <a:ext cx="3730752" cy="292608"/>
          </a:xfrm>
          <a:prstGeom prst="rect">
            <a:avLst/>
          </a:prstGeom>
          <a:noFill/>
          <a:ln/>
        </p:spPr>
        <p:txBody>
          <a:bodyPr wrap="square" lIns="0" tIns="0" rIns="0" bIns="0" rtlCol="0" anchor="t"/>
          <a:lstStyle/>
          <a:p>
            <a:pPr indent="0" marL="0">
              <a:buNone/>
            </a:pPr>
            <a:r>
              <a:rPr lang="en-US" sz="1800" b="1" dirty="0">
                <a:solidFill>
                  <a:schemeClr val="tx1"/>
                </a:solidFill>
              </a:rPr>
              <a:t>Xuất lịch .ics</a:t>
            </a:r>
            <a:endParaRPr lang="en-US" sz="1800" dirty="0"/>
          </a:p>
        </p:txBody>
      </p:sp>
      <p:sp>
        <p:nvSpPr>
          <p:cNvPr id="16" name="Ý 3 mô tả"/>
          <p:cNvSpPr txBox="1"/>
          <p:nvPr/>
        </p:nvSpPr>
        <p:spPr>
          <a:xfrm>
            <a:off x="4956048" y="3840480"/>
            <a:ext cx="3730752" cy="502920"/>
          </a:xfrm>
          <a:prstGeom prst="rect">
            <a:avLst/>
          </a:prstGeom>
          <a:noFill/>
          <a:ln/>
        </p:spPr>
        <p:txBody>
          <a:bodyPr wrap="square" lIns="0" tIns="0" rIns="0" bIns="0" rtlCol="0" anchor="t"/>
          <a:lstStyle/>
          <a:p>
            <a:pPr indent="0" marL="0">
              <a:buNone/>
            </a:pPr>
            <a:r>
              <a:rPr lang="en-US" sz="1400" dirty="0">
                <a:solidFill>
                  <a:srgbClr val="5B6482"/>
                </a:solidFill>
              </a:rPr>
              <a:t>Nhắc cả khi đã đóng trang</a:t>
            </a:r>
            <a:endParaRPr lang="en-US" sz="14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1"/>
                </a:solidFill>
              </a:rPr>
              <a:t>Tính điểm môn học</a:t>
            </a:r>
            <a:endParaRPr lang="en-US" sz="3600" dirty="0"/>
          </a:p>
        </p:txBody>
      </p:sp>
      <p:sp>
        <p:nvSpPr>
          <p:cNvPr id="3" name="Bảng tính điểm khung"/>
          <p:cNvSpPr/>
          <p:nvPr/>
        </p:nvSpPr>
        <p:spPr>
          <a:xfrm>
            <a:off x="402336" y="1314676"/>
            <a:ext cx="5687568" cy="2948489"/>
          </a:xfrm>
          <a:prstGeom prst="roundRect">
            <a:avLst>
              <a:gd name="adj" fmla="val 3721"/>
            </a:avLst>
          </a:prstGeom>
          <a:solidFill>
            <a:schemeClr val="bg1"/>
          </a:solidFill>
          <a:ln w="9525">
            <a:solidFill>
              <a:srgbClr val="E4E2F4"/>
            </a:solidFill>
            <a:prstDash val="solid"/>
          </a:ln>
          <a:effectLst>
            <a:outerShdw sx="100000" sy="100000" kx="0" ky="0" algn="bl" rotWithShape="0" blurRad="101600" dist="25400" dir="5400000">
              <a:srgbClr val="1B1840">
                <a:alpha val="12000"/>
              </a:srgbClr>
            </a:outerShdw>
          </a:effectLst>
        </p:spPr>
      </p:sp>
      <p:pic>
        <p:nvPicPr>
          <p:cNvPr id="4" name="Bảng tính điểm" descr="Bảng tính điểm">    </p:cNvPr>
          <p:cNvPicPr>
            <a:picLocks noChangeAspect="1"/>
          </p:cNvPicPr>
          <p:nvPr/>
        </p:nvPicPr>
        <p:blipFill>
          <a:blip r:embed="rId1"/>
          <a:stretch>
            <a:fillRect/>
          </a:stretch>
        </p:blipFill>
        <p:spPr>
          <a:xfrm>
            <a:off x="457200" y="1369540"/>
            <a:ext cx="5577840" cy="2838761"/>
          </a:xfrm>
          <a:prstGeom prst="rect">
            <a:avLst/>
          </a:prstGeom>
        </p:spPr>
      </p:pic>
      <p:sp>
        <p:nvSpPr>
          <p:cNvPr id="5" name="Thẻ số Điểm hiện có"/>
          <p:cNvSpPr/>
          <p:nvPr/>
        </p:nvSpPr>
        <p:spPr>
          <a:xfrm>
            <a:off x="6309360" y="1188720"/>
            <a:ext cx="2377440" cy="960120"/>
          </a:xfrm>
          <a:prstGeom prst="roundRect">
            <a:avLst>
              <a:gd name="adj" fmla="val 11429"/>
            </a:avLst>
          </a:prstGeom>
          <a:solidFill>
            <a:schemeClr val="bg1"/>
          </a:solidFill>
          <a:ln w="9525">
            <a:solidFill>
              <a:srgbClr val="E4E2F4"/>
            </a:solidFill>
            <a:prstDash val="solid"/>
          </a:ln>
          <a:effectLst>
            <a:outerShdw sx="100000" sy="100000" kx="0" ky="0" algn="bl" rotWithShape="0" blurRad="101600" dist="25400" dir="5400000">
              <a:srgbClr val="1B1840">
                <a:alpha val="12000"/>
              </a:srgbClr>
            </a:outerShdw>
          </a:effectLst>
        </p:spPr>
      </p:sp>
      <p:sp>
        <p:nvSpPr>
          <p:cNvPr id="6" name="Số Điểm hiện có"/>
          <p:cNvSpPr txBox="1"/>
          <p:nvPr/>
        </p:nvSpPr>
        <p:spPr>
          <a:xfrm>
            <a:off x="6492240" y="1280160"/>
            <a:ext cx="2011680" cy="502920"/>
          </a:xfrm>
          <a:prstGeom prst="rect">
            <a:avLst/>
          </a:prstGeom>
          <a:noFill/>
          <a:ln/>
        </p:spPr>
        <p:txBody>
          <a:bodyPr wrap="square" lIns="0" tIns="0" rIns="0" bIns="0" rtlCol="0" anchor="ctr"/>
          <a:lstStyle/>
          <a:p>
            <a:pPr indent="0" marL="0">
              <a:buNone/>
            </a:pPr>
            <a:r>
              <a:rPr lang="en-US" sz="3600" b="1" dirty="0">
                <a:solidFill>
                  <a:schemeClr val="tx1"/>
                </a:solidFill>
              </a:rPr>
              <a:t>4.6</a:t>
            </a:r>
            <a:endParaRPr lang="en-US" sz="3600" dirty="0"/>
          </a:p>
        </p:txBody>
      </p:sp>
      <p:sp>
        <p:nvSpPr>
          <p:cNvPr id="7" name="Nhãn số Điểm hiện có"/>
          <p:cNvSpPr txBox="1"/>
          <p:nvPr/>
        </p:nvSpPr>
        <p:spPr>
          <a:xfrm>
            <a:off x="6492240" y="1792224"/>
            <a:ext cx="2011680" cy="274320"/>
          </a:xfrm>
          <a:prstGeom prst="rect">
            <a:avLst/>
          </a:prstGeom>
          <a:noFill/>
          <a:ln/>
        </p:spPr>
        <p:txBody>
          <a:bodyPr wrap="square" lIns="0" tIns="0" rIns="0" bIns="0" rtlCol="0" anchor="ctr"/>
          <a:lstStyle/>
          <a:p>
            <a:pPr indent="0" marL="0">
              <a:buNone/>
            </a:pPr>
            <a:r>
              <a:rPr lang="en-US" sz="1400" dirty="0">
                <a:solidFill>
                  <a:srgbClr val="5B6482"/>
                </a:solidFill>
              </a:rPr>
              <a:t>Điểm hiện có</a:t>
            </a:r>
            <a:endParaRPr lang="en-US" sz="1400" dirty="0"/>
          </a:p>
        </p:txBody>
      </p:sp>
      <p:sp>
        <p:nvSpPr>
          <p:cNvPr id="8" name="Thẻ số Tối đa (A · 4.0)"/>
          <p:cNvSpPr/>
          <p:nvPr/>
        </p:nvSpPr>
        <p:spPr>
          <a:xfrm>
            <a:off x="6309360" y="2286000"/>
            <a:ext cx="2377440" cy="960120"/>
          </a:xfrm>
          <a:prstGeom prst="roundRect">
            <a:avLst>
              <a:gd name="adj" fmla="val 11429"/>
            </a:avLst>
          </a:prstGeom>
          <a:solidFill>
            <a:schemeClr val="bg1"/>
          </a:solidFill>
          <a:ln w="9525">
            <a:solidFill>
              <a:srgbClr val="E4E2F4"/>
            </a:solidFill>
            <a:prstDash val="solid"/>
          </a:ln>
          <a:effectLst>
            <a:outerShdw sx="100000" sy="100000" kx="0" ky="0" algn="bl" rotWithShape="0" blurRad="101600" dist="25400" dir="5400000">
              <a:srgbClr val="1B1840">
                <a:alpha val="12000"/>
              </a:srgbClr>
            </a:outerShdw>
          </a:effectLst>
        </p:spPr>
      </p:sp>
      <p:sp>
        <p:nvSpPr>
          <p:cNvPr id="9" name="Số Tối đa (A · 4.0)"/>
          <p:cNvSpPr txBox="1"/>
          <p:nvPr/>
        </p:nvSpPr>
        <p:spPr>
          <a:xfrm>
            <a:off x="6492240" y="2377440"/>
            <a:ext cx="2011680" cy="502920"/>
          </a:xfrm>
          <a:prstGeom prst="rect">
            <a:avLst/>
          </a:prstGeom>
          <a:noFill/>
          <a:ln/>
        </p:spPr>
        <p:txBody>
          <a:bodyPr wrap="square" lIns="0" tIns="0" rIns="0" bIns="0" rtlCol="0" anchor="ctr"/>
          <a:lstStyle/>
          <a:p>
            <a:pPr indent="0" marL="0">
              <a:buNone/>
            </a:pPr>
            <a:r>
              <a:rPr lang="en-US" sz="3600" b="1" dirty="0">
                <a:solidFill>
                  <a:schemeClr val="accent6"/>
                </a:solidFill>
              </a:rPr>
              <a:t>8.6</a:t>
            </a:r>
            <a:endParaRPr lang="en-US" sz="3600" dirty="0"/>
          </a:p>
        </p:txBody>
      </p:sp>
      <p:sp>
        <p:nvSpPr>
          <p:cNvPr id="10" name="Nhãn số Tối đa (A · 4.0)"/>
          <p:cNvSpPr txBox="1"/>
          <p:nvPr/>
        </p:nvSpPr>
        <p:spPr>
          <a:xfrm>
            <a:off x="6492240" y="2889504"/>
            <a:ext cx="2011680" cy="274320"/>
          </a:xfrm>
          <a:prstGeom prst="rect">
            <a:avLst/>
          </a:prstGeom>
          <a:noFill/>
          <a:ln/>
        </p:spPr>
        <p:txBody>
          <a:bodyPr wrap="square" lIns="0" tIns="0" rIns="0" bIns="0" rtlCol="0" anchor="ctr"/>
          <a:lstStyle/>
          <a:p>
            <a:pPr indent="0" marL="0">
              <a:buNone/>
            </a:pPr>
            <a:r>
              <a:rPr lang="en-US" sz="1400" dirty="0">
                <a:solidFill>
                  <a:srgbClr val="5B6482"/>
                </a:solidFill>
              </a:rPr>
              <a:t>Tối đa (A · 4.0)</a:t>
            </a:r>
            <a:endParaRPr lang="en-US" sz="1400" dirty="0"/>
          </a:p>
        </p:txBody>
      </p:sp>
      <p:sp>
        <p:nvSpPr>
          <p:cNvPr id="11" name="Thẻ số Cần ở cuối kỳ"/>
          <p:cNvSpPr/>
          <p:nvPr/>
        </p:nvSpPr>
        <p:spPr>
          <a:xfrm>
            <a:off x="6309360" y="3383280"/>
            <a:ext cx="2377440" cy="960120"/>
          </a:xfrm>
          <a:prstGeom prst="roundRect">
            <a:avLst>
              <a:gd name="adj" fmla="val 11429"/>
            </a:avLst>
          </a:prstGeom>
          <a:solidFill>
            <a:schemeClr val="bg1"/>
          </a:solidFill>
          <a:ln w="9525">
            <a:solidFill>
              <a:srgbClr val="E4E2F4"/>
            </a:solidFill>
            <a:prstDash val="solid"/>
          </a:ln>
          <a:effectLst>
            <a:outerShdw sx="100000" sy="100000" kx="0" ky="0" algn="bl" rotWithShape="0" blurRad="101600" dist="25400" dir="5400000">
              <a:srgbClr val="1B1840">
                <a:alpha val="12000"/>
              </a:srgbClr>
            </a:outerShdw>
          </a:effectLst>
        </p:spPr>
      </p:sp>
      <p:sp>
        <p:nvSpPr>
          <p:cNvPr id="12" name="Số Cần ở cuối kỳ"/>
          <p:cNvSpPr txBox="1"/>
          <p:nvPr/>
        </p:nvSpPr>
        <p:spPr>
          <a:xfrm>
            <a:off x="6492240" y="3474720"/>
            <a:ext cx="2011680" cy="502920"/>
          </a:xfrm>
          <a:prstGeom prst="rect">
            <a:avLst/>
          </a:prstGeom>
          <a:noFill/>
          <a:ln/>
        </p:spPr>
        <p:txBody>
          <a:bodyPr wrap="square" lIns="0" tIns="0" rIns="0" bIns="0" rtlCol="0" anchor="ctr"/>
          <a:lstStyle/>
          <a:p>
            <a:pPr indent="0" marL="0">
              <a:buNone/>
            </a:pPr>
            <a:r>
              <a:rPr lang="en-US" sz="3600" b="1" dirty="0">
                <a:solidFill>
                  <a:schemeClr val="accent1"/>
                </a:solidFill>
              </a:rPr>
              <a:t>≥ 6</a:t>
            </a:r>
            <a:endParaRPr lang="en-US" sz="3600" dirty="0"/>
          </a:p>
        </p:txBody>
      </p:sp>
      <p:sp>
        <p:nvSpPr>
          <p:cNvPr id="13" name="Nhãn số Cần ở cuối kỳ"/>
          <p:cNvSpPr txBox="1"/>
          <p:nvPr/>
        </p:nvSpPr>
        <p:spPr>
          <a:xfrm>
            <a:off x="6492240" y="3986784"/>
            <a:ext cx="2011680" cy="274320"/>
          </a:xfrm>
          <a:prstGeom prst="rect">
            <a:avLst/>
          </a:prstGeom>
          <a:noFill/>
          <a:ln/>
        </p:spPr>
        <p:txBody>
          <a:bodyPr wrap="square" lIns="0" tIns="0" rIns="0" bIns="0" rtlCol="0" anchor="ctr"/>
          <a:lstStyle/>
          <a:p>
            <a:pPr indent="0" marL="0">
              <a:buNone/>
            </a:pPr>
            <a:r>
              <a:rPr lang="en-US" sz="1400" dirty="0">
                <a:solidFill>
                  <a:srgbClr val="5B6482"/>
                </a:solidFill>
              </a:rPr>
              <a:t>Cần ở cuối kỳ</a:t>
            </a:r>
            <a:endParaRPr lang="en-US" sz="14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1"/>
                </a:solidFill>
              </a:rPr>
              <a:t>Thống kê và giao diện</a:t>
            </a:r>
            <a:endParaRPr lang="en-US" sz="3600" dirty="0"/>
          </a:p>
        </p:txBody>
      </p:sp>
      <p:sp>
        <p:nvSpPr>
          <p:cNvPr id="3" name="Bảng thống kê khung"/>
          <p:cNvSpPr/>
          <p:nvPr/>
        </p:nvSpPr>
        <p:spPr>
          <a:xfrm>
            <a:off x="579354" y="1042416"/>
            <a:ext cx="3138971" cy="3218688"/>
          </a:xfrm>
          <a:prstGeom prst="roundRect">
            <a:avLst>
              <a:gd name="adj" fmla="val 3496"/>
            </a:avLst>
          </a:prstGeom>
          <a:solidFill>
            <a:schemeClr val="bg1"/>
          </a:solidFill>
          <a:ln w="9525">
            <a:solidFill>
              <a:srgbClr val="E4E2F4"/>
            </a:solidFill>
            <a:prstDash val="solid"/>
          </a:ln>
          <a:effectLst>
            <a:outerShdw sx="100000" sy="100000" kx="0" ky="0" algn="bl" rotWithShape="0" blurRad="101600" dist="25400" dir="5400000">
              <a:srgbClr val="1B1840">
                <a:alpha val="12000"/>
              </a:srgbClr>
            </a:outerShdw>
          </a:effectLst>
        </p:spPr>
      </p:sp>
      <p:pic>
        <p:nvPicPr>
          <p:cNvPr id="4" name="Bảng thống kê" descr="Bảng thống kê">    </p:cNvPr>
          <p:cNvPicPr>
            <a:picLocks noChangeAspect="1"/>
          </p:cNvPicPr>
          <p:nvPr/>
        </p:nvPicPr>
        <p:blipFill>
          <a:blip r:embed="rId1"/>
          <a:stretch>
            <a:fillRect/>
          </a:stretch>
        </p:blipFill>
        <p:spPr>
          <a:xfrm>
            <a:off x="634218" y="1097280"/>
            <a:ext cx="3029243" cy="3108960"/>
          </a:xfrm>
          <a:prstGeom prst="rect">
            <a:avLst/>
          </a:prstGeom>
        </p:spPr>
      </p:pic>
      <p:sp>
        <p:nvSpPr>
          <p:cNvPr id="5" name="Chú thích thống kê"/>
          <p:cNvSpPr txBox="1"/>
          <p:nvPr/>
        </p:nvSpPr>
        <p:spPr>
          <a:xfrm>
            <a:off x="457200" y="4297680"/>
            <a:ext cx="3383280" cy="274320"/>
          </a:xfrm>
          <a:prstGeom prst="rect">
            <a:avLst/>
          </a:prstGeom>
          <a:noFill/>
          <a:ln/>
        </p:spPr>
        <p:txBody>
          <a:bodyPr wrap="square" lIns="0" tIns="0" rIns="0" bIns="0" rtlCol="0" anchor="ctr"/>
          <a:lstStyle/>
          <a:p>
            <a:pPr algn="ctr" indent="0" marL="0">
              <a:buNone/>
            </a:pPr>
            <a:r>
              <a:rPr lang="en-US" sz="1400" b="1" dirty="0">
                <a:solidFill>
                  <a:srgbClr val="5B6482"/>
                </a:solidFill>
              </a:rPr>
              <a:t>Thống kê tiến độ</a:t>
            </a:r>
            <a:endParaRPr lang="en-US" sz="1400" dirty="0"/>
          </a:p>
        </p:txBody>
      </p:sp>
      <p:sp>
        <p:nvSpPr>
          <p:cNvPr id="6" name="Giao diện tối khung"/>
          <p:cNvSpPr/>
          <p:nvPr/>
        </p:nvSpPr>
        <p:spPr>
          <a:xfrm>
            <a:off x="4059936" y="1305581"/>
            <a:ext cx="4681728" cy="2692357"/>
          </a:xfrm>
          <a:prstGeom prst="roundRect">
            <a:avLst>
              <a:gd name="adj" fmla="val 4076"/>
            </a:avLst>
          </a:prstGeom>
          <a:solidFill>
            <a:schemeClr val="bg1"/>
          </a:solidFill>
          <a:ln w="9525">
            <a:solidFill>
              <a:srgbClr val="E4E2F4"/>
            </a:solidFill>
            <a:prstDash val="solid"/>
          </a:ln>
          <a:effectLst>
            <a:outerShdw sx="100000" sy="100000" kx="0" ky="0" algn="bl" rotWithShape="0" blurRad="101600" dist="25400" dir="5400000">
              <a:srgbClr val="1B1840">
                <a:alpha val="12000"/>
              </a:srgbClr>
            </a:outerShdw>
          </a:effectLst>
        </p:spPr>
      </p:sp>
      <p:pic>
        <p:nvPicPr>
          <p:cNvPr id="7" name="Giao diện tối" descr="Giao diện tối">    </p:cNvPr>
          <p:cNvPicPr>
            <a:picLocks noChangeAspect="1"/>
          </p:cNvPicPr>
          <p:nvPr/>
        </p:nvPicPr>
        <p:blipFill>
          <a:blip r:embed="rId2"/>
          <a:stretch>
            <a:fillRect/>
          </a:stretch>
        </p:blipFill>
        <p:spPr>
          <a:xfrm>
            <a:off x="4114800" y="1360445"/>
            <a:ext cx="4572000" cy="2582629"/>
          </a:xfrm>
          <a:prstGeom prst="rect">
            <a:avLst/>
          </a:prstGeom>
        </p:spPr>
      </p:pic>
      <p:sp>
        <p:nvSpPr>
          <p:cNvPr id="8" name="Chú thích giao diện"/>
          <p:cNvSpPr txBox="1"/>
          <p:nvPr/>
        </p:nvSpPr>
        <p:spPr>
          <a:xfrm>
            <a:off x="4114800" y="4297680"/>
            <a:ext cx="4572000" cy="274320"/>
          </a:xfrm>
          <a:prstGeom prst="rect">
            <a:avLst/>
          </a:prstGeom>
          <a:noFill/>
          <a:ln/>
        </p:spPr>
        <p:txBody>
          <a:bodyPr wrap="square" lIns="0" tIns="0" rIns="0" bIns="0" rtlCol="0" anchor="ctr"/>
          <a:lstStyle/>
          <a:p>
            <a:pPr algn="ctr" indent="0" marL="0">
              <a:buNone/>
            </a:pPr>
            <a:r>
              <a:rPr lang="en-US" sz="1400" b="1" dirty="0">
                <a:solidFill>
                  <a:srgbClr val="5B6482"/>
                </a:solidFill>
              </a:rPr>
              <a:t>Chuyển sáng hoặc tối trong Cài đặt</a:t>
            </a:r>
            <a:endParaRPr lang="en-US" sz="14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600" b="1" dirty="0">
                <a:solidFill>
                  <a:schemeClr val="tx1"/>
                </a:solidFill>
              </a:rPr>
              <a:t>Kiểm thử và hạn chế</a:t>
            </a:r>
            <a:endParaRPr lang="en-US" sz="3600" dirty="0"/>
          </a:p>
        </p:txBody>
      </p:sp>
      <p:sp>
        <p:nvSpPr>
          <p:cNvPr id="3" name="Khung kiểm thử"/>
          <p:cNvSpPr/>
          <p:nvPr/>
        </p:nvSpPr>
        <p:spPr>
          <a:xfrm>
            <a:off x="457200" y="1188720"/>
            <a:ext cx="3977640" cy="3246120"/>
          </a:xfrm>
          <a:prstGeom prst="roundRect">
            <a:avLst>
              <a:gd name="adj" fmla="val 3380"/>
            </a:avLst>
          </a:prstGeom>
          <a:solidFill>
            <a:schemeClr val="bg1"/>
          </a:solidFill>
          <a:ln w="9525">
            <a:solidFill>
              <a:srgbClr val="E4E2F4"/>
            </a:solidFill>
            <a:prstDash val="solid"/>
          </a:ln>
          <a:effectLst>
            <a:outerShdw sx="100000" sy="100000" kx="0" ky="0" algn="bl" rotWithShape="0" blurRad="101600" dist="25400" dir="5400000">
              <a:srgbClr val="1B1840">
                <a:alpha val="12000"/>
              </a:srgbClr>
            </a:outerShdw>
          </a:effectLst>
        </p:spPr>
      </p:sp>
      <p:sp>
        <p:nvSpPr>
          <p:cNvPr id="4" name="Khung hạn chế"/>
          <p:cNvSpPr/>
          <p:nvPr/>
        </p:nvSpPr>
        <p:spPr>
          <a:xfrm>
            <a:off x="4709160" y="1188720"/>
            <a:ext cx="3977640" cy="3246120"/>
          </a:xfrm>
          <a:prstGeom prst="roundRect">
            <a:avLst>
              <a:gd name="adj" fmla="val 3380"/>
            </a:avLst>
          </a:prstGeom>
          <a:solidFill>
            <a:schemeClr val="bg1"/>
          </a:solidFill>
          <a:ln w="9525">
            <a:solidFill>
              <a:srgbClr val="E4E2F4"/>
            </a:solidFill>
            <a:prstDash val="solid"/>
          </a:ln>
          <a:effectLst>
            <a:outerShdw sx="100000" sy="100000" kx="0" ky="0" algn="bl" rotWithShape="0" blurRad="101600" dist="25400" dir="5400000">
              <a:srgbClr val="1B1840">
                <a:alpha val="12000"/>
              </a:srgbClr>
            </a:outerShdw>
          </a:effectLst>
        </p:spPr>
      </p:sp>
      <p:sp>
        <p:nvSpPr>
          <p:cNvPr id="5" name="Tiêu đề kiểm thử"/>
          <p:cNvSpPr txBox="1"/>
          <p:nvPr/>
        </p:nvSpPr>
        <p:spPr>
          <a:xfrm>
            <a:off x="731520" y="1371600"/>
            <a:ext cx="3474720" cy="365760"/>
          </a:xfrm>
          <a:prstGeom prst="rect">
            <a:avLst/>
          </a:prstGeom>
          <a:noFill/>
          <a:ln/>
        </p:spPr>
        <p:txBody>
          <a:bodyPr wrap="square" lIns="0" tIns="0" rIns="0" bIns="0" rtlCol="0" anchor="ctr"/>
          <a:lstStyle/>
          <a:p>
            <a:pPr indent="0" marL="0">
              <a:buNone/>
            </a:pPr>
            <a:r>
              <a:rPr lang="en-US" sz="2200" b="1" dirty="0">
                <a:solidFill>
                  <a:schemeClr val="accent4"/>
                </a:solidFill>
              </a:rPr>
              <a:t>Đã kiểm thử</a:t>
            </a:r>
            <a:endParaRPr lang="en-US" sz="2200" dirty="0"/>
          </a:p>
        </p:txBody>
      </p:sp>
      <p:sp>
        <p:nvSpPr>
          <p:cNvPr id="6" name="Tiêu đề hạn chế"/>
          <p:cNvSpPr txBox="1"/>
          <p:nvPr/>
        </p:nvSpPr>
        <p:spPr>
          <a:xfrm>
            <a:off x="4983480" y="1371600"/>
            <a:ext cx="3474720" cy="365760"/>
          </a:xfrm>
          <a:prstGeom prst="rect">
            <a:avLst/>
          </a:prstGeom>
          <a:noFill/>
          <a:ln/>
        </p:spPr>
        <p:txBody>
          <a:bodyPr wrap="square" lIns="0" tIns="0" rIns="0" bIns="0" rtlCol="0" anchor="ctr"/>
          <a:lstStyle/>
          <a:p>
            <a:pPr indent="0" marL="0">
              <a:buNone/>
            </a:pPr>
            <a:r>
              <a:rPr lang="en-US" sz="2200" b="1" dirty="0">
                <a:solidFill>
                  <a:schemeClr val="accent5"/>
                </a:solidFill>
              </a:rPr>
              <a:t>Hạn chế</a:t>
            </a:r>
            <a:endParaRPr lang="en-US" sz="2200" dirty="0"/>
          </a:p>
        </p:txBody>
      </p:sp>
      <p:pic>
        <p:nvPicPr>
          <p:cNvPr id="7" name="Dấu tick 0" descr="Đã kiểm thử">    </p:cNvPr>
          <p:cNvPicPr>
            <a:picLocks noChangeAspect="1"/>
          </p:cNvPicPr>
          <p:nvPr/>
        </p:nvPicPr>
        <p:blipFill>
          <a:blip r:embed="rId1"/>
          <a:stretch>
            <a:fillRect/>
          </a:stretch>
        </p:blipFill>
        <p:spPr>
          <a:xfrm>
            <a:off x="731520" y="2002536"/>
            <a:ext cx="274320" cy="274320"/>
          </a:xfrm>
          <a:prstGeom prst="rect">
            <a:avLst/>
          </a:prstGeom>
        </p:spPr>
      </p:pic>
      <p:sp>
        <p:nvSpPr>
          <p:cNvPr id="8" name="Mục kiểm thử 0"/>
          <p:cNvSpPr txBox="1"/>
          <p:nvPr/>
        </p:nvSpPr>
        <p:spPr>
          <a:xfrm>
            <a:off x="1143000" y="1965960"/>
            <a:ext cx="3108960" cy="640080"/>
          </a:xfrm>
          <a:prstGeom prst="rect">
            <a:avLst/>
          </a:prstGeom>
          <a:noFill/>
          <a:ln/>
        </p:spPr>
        <p:txBody>
          <a:bodyPr wrap="square" lIns="0" tIns="0" rIns="0" bIns="0" rtlCol="0" anchor="t"/>
          <a:lstStyle/>
          <a:p>
            <a:pPr indent="0" marL="0">
              <a:buNone/>
            </a:pPr>
            <a:r>
              <a:rPr lang="en-US" sz="1600" dirty="0">
                <a:solidFill>
                  <a:schemeClr val="tx1"/>
                </a:solidFill>
              </a:rPr>
              <a:t>Từng chức năng trên trình duyệt tự động</a:t>
            </a:r>
            <a:endParaRPr lang="en-US" sz="1600" dirty="0"/>
          </a:p>
        </p:txBody>
      </p:sp>
      <p:pic>
        <p:nvPicPr>
          <p:cNvPr id="9" name="Cảnh báo 0" descr="Hạn chế">    </p:cNvPr>
          <p:cNvPicPr>
            <a:picLocks noChangeAspect="1"/>
          </p:cNvPicPr>
          <p:nvPr/>
        </p:nvPicPr>
        <p:blipFill>
          <a:blip r:embed="rId2"/>
          <a:stretch>
            <a:fillRect/>
          </a:stretch>
        </p:blipFill>
        <p:spPr>
          <a:xfrm>
            <a:off x="4983480" y="2002536"/>
            <a:ext cx="274320" cy="274320"/>
          </a:xfrm>
          <a:prstGeom prst="rect">
            <a:avLst/>
          </a:prstGeom>
        </p:spPr>
      </p:pic>
      <p:sp>
        <p:nvSpPr>
          <p:cNvPr id="10" name="Mục hạn chế 0"/>
          <p:cNvSpPr txBox="1"/>
          <p:nvPr/>
        </p:nvSpPr>
        <p:spPr>
          <a:xfrm>
            <a:off x="5394960" y="1965960"/>
            <a:ext cx="3108960" cy="640080"/>
          </a:xfrm>
          <a:prstGeom prst="rect">
            <a:avLst/>
          </a:prstGeom>
          <a:noFill/>
          <a:ln/>
        </p:spPr>
        <p:txBody>
          <a:bodyPr wrap="square" lIns="0" tIns="0" rIns="0" bIns="0" rtlCol="0" anchor="t"/>
          <a:lstStyle/>
          <a:p>
            <a:pPr indent="0" marL="0">
              <a:buNone/>
            </a:pPr>
            <a:r>
              <a:rPr lang="en-US" sz="1600" dirty="0">
                <a:solidFill>
                  <a:schemeClr val="tx1"/>
                </a:solidFill>
              </a:rPr>
              <a:t>Chưa có máy chủ: chưa đồng bộ nhóm thật</a:t>
            </a:r>
            <a:endParaRPr lang="en-US" sz="1600" dirty="0"/>
          </a:p>
        </p:txBody>
      </p:sp>
      <p:pic>
        <p:nvPicPr>
          <p:cNvPr id="11" name="Dấu tick 1" descr="Đã kiểm thử">    </p:cNvPr>
          <p:cNvPicPr>
            <a:picLocks noChangeAspect="1"/>
          </p:cNvPicPr>
          <p:nvPr/>
        </p:nvPicPr>
        <p:blipFill>
          <a:blip r:embed="rId3"/>
          <a:stretch>
            <a:fillRect/>
          </a:stretch>
        </p:blipFill>
        <p:spPr>
          <a:xfrm>
            <a:off x="731520" y="2779776"/>
            <a:ext cx="274320" cy="274320"/>
          </a:xfrm>
          <a:prstGeom prst="rect">
            <a:avLst/>
          </a:prstGeom>
        </p:spPr>
      </p:pic>
      <p:sp>
        <p:nvSpPr>
          <p:cNvPr id="12" name="Mục kiểm thử 1"/>
          <p:cNvSpPr txBox="1"/>
          <p:nvPr/>
        </p:nvSpPr>
        <p:spPr>
          <a:xfrm>
            <a:off x="1143000" y="2743200"/>
            <a:ext cx="3108960" cy="640080"/>
          </a:xfrm>
          <a:prstGeom prst="rect">
            <a:avLst/>
          </a:prstGeom>
          <a:noFill/>
          <a:ln/>
        </p:spPr>
        <p:txBody>
          <a:bodyPr wrap="square" lIns="0" tIns="0" rIns="0" bIns="0" rtlCol="0" anchor="t"/>
          <a:lstStyle/>
          <a:p>
            <a:pPr indent="0" marL="0">
              <a:buNone/>
            </a:pPr>
            <a:r>
              <a:rPr lang="en-US" sz="1600" dirty="0">
                <a:solidFill>
                  <a:schemeClr val="tx1"/>
                </a:solidFill>
              </a:rPr>
              <a:t>Lưu dữ liệu sau khi tải lại trang</a:t>
            </a:r>
            <a:endParaRPr lang="en-US" sz="1600" dirty="0"/>
          </a:p>
        </p:txBody>
      </p:sp>
      <p:pic>
        <p:nvPicPr>
          <p:cNvPr id="13" name="Cảnh báo 1" descr="Hạn chế">    </p:cNvPr>
          <p:cNvPicPr>
            <a:picLocks noChangeAspect="1"/>
          </p:cNvPicPr>
          <p:nvPr/>
        </p:nvPicPr>
        <p:blipFill>
          <a:blip r:embed="rId4"/>
          <a:stretch>
            <a:fillRect/>
          </a:stretch>
        </p:blipFill>
        <p:spPr>
          <a:xfrm>
            <a:off x="4983480" y="2779776"/>
            <a:ext cx="274320" cy="274320"/>
          </a:xfrm>
          <a:prstGeom prst="rect">
            <a:avLst/>
          </a:prstGeom>
        </p:spPr>
      </p:pic>
      <p:sp>
        <p:nvSpPr>
          <p:cNvPr id="14" name="Mục hạn chế 1"/>
          <p:cNvSpPr txBox="1"/>
          <p:nvPr/>
        </p:nvSpPr>
        <p:spPr>
          <a:xfrm>
            <a:off x="5394960" y="2743200"/>
            <a:ext cx="3108960" cy="640080"/>
          </a:xfrm>
          <a:prstGeom prst="rect">
            <a:avLst/>
          </a:prstGeom>
          <a:noFill/>
          <a:ln/>
        </p:spPr>
        <p:txBody>
          <a:bodyPr wrap="square" lIns="0" tIns="0" rIns="0" bIns="0" rtlCol="0" anchor="t"/>
          <a:lstStyle/>
          <a:p>
            <a:pPr indent="0" marL="0">
              <a:buNone/>
            </a:pPr>
            <a:r>
              <a:rPr lang="en-US" sz="1600" dirty="0">
                <a:solidFill>
                  <a:schemeClr val="tx1"/>
                </a:solidFill>
              </a:rPr>
              <a:t>Đăng nhập chỉ là bản mô phỏng</a:t>
            </a:r>
            <a:endParaRPr lang="en-US" sz="1600" dirty="0"/>
          </a:p>
        </p:txBody>
      </p:sp>
      <p:pic>
        <p:nvPicPr>
          <p:cNvPr id="15" name="Dấu tick 2" descr="Đã kiểm thử">    </p:cNvPr>
          <p:cNvPicPr>
            <a:picLocks noChangeAspect="1"/>
          </p:cNvPicPr>
          <p:nvPr/>
        </p:nvPicPr>
        <p:blipFill>
          <a:blip r:embed="rId5"/>
          <a:stretch>
            <a:fillRect/>
          </a:stretch>
        </p:blipFill>
        <p:spPr>
          <a:xfrm>
            <a:off x="731520" y="3557016"/>
            <a:ext cx="274320" cy="274320"/>
          </a:xfrm>
          <a:prstGeom prst="rect">
            <a:avLst/>
          </a:prstGeom>
        </p:spPr>
      </p:pic>
      <p:sp>
        <p:nvSpPr>
          <p:cNvPr id="16" name="Mục kiểm thử 2"/>
          <p:cNvSpPr txBox="1"/>
          <p:nvPr/>
        </p:nvSpPr>
        <p:spPr>
          <a:xfrm>
            <a:off x="1143000" y="3520440"/>
            <a:ext cx="3108960" cy="640080"/>
          </a:xfrm>
          <a:prstGeom prst="rect">
            <a:avLst/>
          </a:prstGeom>
          <a:noFill/>
          <a:ln/>
        </p:spPr>
        <p:txBody>
          <a:bodyPr wrap="square" lIns="0" tIns="0" rIns="0" bIns="0" rtlCol="0" anchor="t"/>
          <a:lstStyle/>
          <a:p>
            <a:pPr indent="0" marL="0">
              <a:buNone/>
            </a:pPr>
            <a:r>
              <a:rPr lang="en-US" sz="1600" dirty="0">
                <a:solidFill>
                  <a:schemeClr val="tx1"/>
                </a:solidFill>
              </a:rPr>
              <a:t>Mời thành viên và tham gia nhóm</a:t>
            </a:r>
            <a:endParaRPr lang="en-US" sz="1600" dirty="0"/>
          </a:p>
        </p:txBody>
      </p:sp>
      <p:pic>
        <p:nvPicPr>
          <p:cNvPr id="17" name="Cảnh báo 2" descr="Hạn chế">    </p:cNvPr>
          <p:cNvPicPr>
            <a:picLocks noChangeAspect="1"/>
          </p:cNvPicPr>
          <p:nvPr/>
        </p:nvPicPr>
        <p:blipFill>
          <a:blip r:embed="rId6"/>
          <a:stretch>
            <a:fillRect/>
          </a:stretch>
        </p:blipFill>
        <p:spPr>
          <a:xfrm>
            <a:off x="4983480" y="3557016"/>
            <a:ext cx="274320" cy="274320"/>
          </a:xfrm>
          <a:prstGeom prst="rect">
            <a:avLst/>
          </a:prstGeom>
        </p:spPr>
      </p:pic>
      <p:sp>
        <p:nvSpPr>
          <p:cNvPr id="18" name="Mục hạn chế 2"/>
          <p:cNvSpPr txBox="1"/>
          <p:nvPr/>
        </p:nvSpPr>
        <p:spPr>
          <a:xfrm>
            <a:off x="5394960" y="3520440"/>
            <a:ext cx="3108960" cy="640080"/>
          </a:xfrm>
          <a:prstGeom prst="rect">
            <a:avLst/>
          </a:prstGeom>
          <a:noFill/>
          <a:ln/>
        </p:spPr>
        <p:txBody>
          <a:bodyPr wrap="square" lIns="0" tIns="0" rIns="0" bIns="0" rtlCol="0" anchor="t"/>
          <a:lstStyle/>
          <a:p>
            <a:pPr indent="0" marL="0">
              <a:buNone/>
            </a:pPr>
            <a:r>
              <a:rPr lang="en-US" sz="1600" dirty="0">
                <a:solidFill>
                  <a:schemeClr val="tx1"/>
                </a:solidFill>
              </a:rPr>
              <a:t>Chưa thử trên điện thoại và micro thật</a:t>
            </a:r>
            <a:endParaRPr lang="en-US" sz="16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rgbClr val="FFFFFF"/>
                </a:solidFill>
              </a:rPr>
              <a:t>Bước tiếp theo</a:t>
            </a:r>
            <a:endParaRPr lang="en-US" sz="3600" dirty="0"/>
          </a:p>
        </p:txBody>
      </p:sp>
      <p:sp>
        <p:nvSpPr>
          <p:cNvPr id="3" name="Khung bước 1"/>
          <p:cNvSpPr/>
          <p:nvPr/>
        </p:nvSpPr>
        <p:spPr>
          <a:xfrm>
            <a:off x="548640" y="1463040"/>
            <a:ext cx="2514600" cy="2286000"/>
          </a:xfrm>
          <a:prstGeom prst="roundRect">
            <a:avLst>
              <a:gd name="adj" fmla="val 5600"/>
            </a:avLst>
          </a:prstGeom>
          <a:solidFill>
            <a:srgbClr val="1B1840"/>
          </a:solidFill>
          <a:ln w="12700">
            <a:solidFill>
              <a:srgbClr val="6759E8"/>
            </a:solidFill>
            <a:prstDash val="solid"/>
          </a:ln>
        </p:spPr>
      </p:sp>
      <p:sp>
        <p:nvSpPr>
          <p:cNvPr id="4" name="Vòng bước 1"/>
          <p:cNvSpPr/>
          <p:nvPr/>
        </p:nvSpPr>
        <p:spPr>
          <a:xfrm>
            <a:off x="777240" y="1691640"/>
            <a:ext cx="640080" cy="640080"/>
          </a:xfrm>
          <a:prstGeom prst="ellipse">
            <a:avLst/>
          </a:prstGeom>
          <a:solidFill>
            <a:srgbClr val="6759E8"/>
          </a:solidFill>
          <a:ln w="12700">
            <a:solidFill>
              <a:srgbClr val="6759E8"/>
            </a:solidFill>
            <a:prstDash val="solid"/>
          </a:ln>
        </p:spPr>
      </p:sp>
      <p:pic>
        <p:nvPicPr>
          <p:cNvPr id="5" name="Biểu tượng bước 1" descr="Sao lưu dữ liệu">    </p:cNvPr>
          <p:cNvPicPr>
            <a:picLocks noChangeAspect="1"/>
          </p:cNvPicPr>
          <p:nvPr/>
        </p:nvPicPr>
        <p:blipFill>
          <a:blip r:embed="rId1"/>
          <a:stretch>
            <a:fillRect/>
          </a:stretch>
        </p:blipFill>
        <p:spPr>
          <a:xfrm>
            <a:off x="941832" y="1856232"/>
            <a:ext cx="310896" cy="310896"/>
          </a:xfrm>
          <a:prstGeom prst="rect">
            <a:avLst/>
          </a:prstGeom>
        </p:spPr>
      </p:pic>
      <p:sp>
        <p:nvSpPr>
          <p:cNvPr id="6" name="Số bước 1"/>
          <p:cNvSpPr txBox="1"/>
          <p:nvPr/>
        </p:nvSpPr>
        <p:spPr>
          <a:xfrm>
            <a:off x="2468880" y="1691640"/>
            <a:ext cx="411480" cy="457200"/>
          </a:xfrm>
          <a:prstGeom prst="rect">
            <a:avLst/>
          </a:prstGeom>
          <a:noFill/>
          <a:ln/>
        </p:spPr>
        <p:txBody>
          <a:bodyPr wrap="square" lIns="0" tIns="0" rIns="0" bIns="0" rtlCol="0" anchor="ctr"/>
          <a:lstStyle/>
          <a:p>
            <a:pPr algn="r" indent="0" marL="0">
              <a:buNone/>
            </a:pPr>
            <a:r>
              <a:rPr lang="en-US" sz="2800" b="1" dirty="0">
                <a:solidFill>
                  <a:srgbClr val="F0B429"/>
                </a:solidFill>
              </a:rPr>
              <a:t>1</a:t>
            </a:r>
            <a:endParaRPr lang="en-US" sz="2800" dirty="0"/>
          </a:p>
        </p:txBody>
      </p:sp>
      <p:sp>
        <p:nvSpPr>
          <p:cNvPr id="7" name="Tên bước 1"/>
          <p:cNvSpPr txBox="1"/>
          <p:nvPr/>
        </p:nvSpPr>
        <p:spPr>
          <a:xfrm>
            <a:off x="777240" y="2606040"/>
            <a:ext cx="2103120" cy="457200"/>
          </a:xfrm>
          <a:prstGeom prst="rect">
            <a:avLst/>
          </a:prstGeom>
          <a:noFill/>
          <a:ln/>
        </p:spPr>
        <p:txBody>
          <a:bodyPr wrap="square" lIns="0" tIns="0" rIns="0" bIns="0" rtlCol="0" anchor="t"/>
          <a:lstStyle/>
          <a:p>
            <a:pPr indent="0" marL="0">
              <a:buNone/>
            </a:pPr>
            <a:r>
              <a:rPr lang="en-US" sz="1800" b="1" dirty="0">
                <a:solidFill>
                  <a:srgbClr val="FFFFFF"/>
                </a:solidFill>
              </a:rPr>
              <a:t>Sao lưu dữ liệu</a:t>
            </a:r>
            <a:endParaRPr lang="en-US" sz="1800" dirty="0"/>
          </a:p>
        </p:txBody>
      </p:sp>
      <p:sp>
        <p:nvSpPr>
          <p:cNvPr id="8" name="Mô tả bước 1"/>
          <p:cNvSpPr txBox="1"/>
          <p:nvPr/>
        </p:nvSpPr>
        <p:spPr>
          <a:xfrm>
            <a:off x="777240" y="3154680"/>
            <a:ext cx="2103120" cy="365760"/>
          </a:xfrm>
          <a:prstGeom prst="rect">
            <a:avLst/>
          </a:prstGeom>
          <a:noFill/>
          <a:ln/>
        </p:spPr>
        <p:txBody>
          <a:bodyPr wrap="square" lIns="0" tIns="0" rIns="0" bIns="0" rtlCol="0" anchor="t"/>
          <a:lstStyle/>
          <a:p>
            <a:pPr indent="0" marL="0">
              <a:buNone/>
            </a:pPr>
            <a:r>
              <a:rPr lang="en-US" sz="1400" dirty="0">
                <a:solidFill>
                  <a:srgbClr val="CFCBF5"/>
                </a:solidFill>
              </a:rPr>
              <a:t>Xuất và nhập file</a:t>
            </a:r>
            <a:endParaRPr lang="en-US" sz="1400" dirty="0"/>
          </a:p>
        </p:txBody>
      </p:sp>
      <p:sp>
        <p:nvSpPr>
          <p:cNvPr id="9" name="Khung bước 2"/>
          <p:cNvSpPr/>
          <p:nvPr/>
        </p:nvSpPr>
        <p:spPr>
          <a:xfrm>
            <a:off x="3291840" y="1463040"/>
            <a:ext cx="2514600" cy="2286000"/>
          </a:xfrm>
          <a:prstGeom prst="roundRect">
            <a:avLst>
              <a:gd name="adj" fmla="val 5600"/>
            </a:avLst>
          </a:prstGeom>
          <a:solidFill>
            <a:srgbClr val="1B1840"/>
          </a:solidFill>
          <a:ln w="12700">
            <a:solidFill>
              <a:srgbClr val="6759E8"/>
            </a:solidFill>
            <a:prstDash val="solid"/>
          </a:ln>
        </p:spPr>
      </p:sp>
      <p:sp>
        <p:nvSpPr>
          <p:cNvPr id="10" name="Vòng bước 2"/>
          <p:cNvSpPr/>
          <p:nvPr/>
        </p:nvSpPr>
        <p:spPr>
          <a:xfrm>
            <a:off x="3520440" y="1691640"/>
            <a:ext cx="640080" cy="640080"/>
          </a:xfrm>
          <a:prstGeom prst="ellipse">
            <a:avLst/>
          </a:prstGeom>
          <a:solidFill>
            <a:srgbClr val="6759E8"/>
          </a:solidFill>
          <a:ln w="12700">
            <a:solidFill>
              <a:srgbClr val="6759E8"/>
            </a:solidFill>
            <a:prstDash val="solid"/>
          </a:ln>
        </p:spPr>
      </p:sp>
      <p:pic>
        <p:nvPicPr>
          <p:cNvPr id="11" name="Biểu tượng bước 2" descr="Kiểm thử thiết bị thật">    </p:cNvPr>
          <p:cNvPicPr>
            <a:picLocks noChangeAspect="1"/>
          </p:cNvPicPr>
          <p:nvPr/>
        </p:nvPicPr>
        <p:blipFill>
          <a:blip r:embed="rId2"/>
          <a:stretch>
            <a:fillRect/>
          </a:stretch>
        </p:blipFill>
        <p:spPr>
          <a:xfrm>
            <a:off x="3685032" y="1856232"/>
            <a:ext cx="310896" cy="310896"/>
          </a:xfrm>
          <a:prstGeom prst="rect">
            <a:avLst/>
          </a:prstGeom>
        </p:spPr>
      </p:pic>
      <p:sp>
        <p:nvSpPr>
          <p:cNvPr id="12" name="Số bước 2"/>
          <p:cNvSpPr txBox="1"/>
          <p:nvPr/>
        </p:nvSpPr>
        <p:spPr>
          <a:xfrm>
            <a:off x="5212080" y="1691640"/>
            <a:ext cx="411480" cy="457200"/>
          </a:xfrm>
          <a:prstGeom prst="rect">
            <a:avLst/>
          </a:prstGeom>
          <a:noFill/>
          <a:ln/>
        </p:spPr>
        <p:txBody>
          <a:bodyPr wrap="square" lIns="0" tIns="0" rIns="0" bIns="0" rtlCol="0" anchor="ctr"/>
          <a:lstStyle/>
          <a:p>
            <a:pPr algn="r" indent="0" marL="0">
              <a:buNone/>
            </a:pPr>
            <a:r>
              <a:rPr lang="en-US" sz="2800" b="1" dirty="0">
                <a:solidFill>
                  <a:srgbClr val="F0B429"/>
                </a:solidFill>
              </a:rPr>
              <a:t>2</a:t>
            </a:r>
            <a:endParaRPr lang="en-US" sz="2800" dirty="0"/>
          </a:p>
        </p:txBody>
      </p:sp>
      <p:sp>
        <p:nvSpPr>
          <p:cNvPr id="13" name="Tên bước 2"/>
          <p:cNvSpPr txBox="1"/>
          <p:nvPr/>
        </p:nvSpPr>
        <p:spPr>
          <a:xfrm>
            <a:off x="3520440" y="2606040"/>
            <a:ext cx="2103120" cy="457200"/>
          </a:xfrm>
          <a:prstGeom prst="rect">
            <a:avLst/>
          </a:prstGeom>
          <a:noFill/>
          <a:ln/>
        </p:spPr>
        <p:txBody>
          <a:bodyPr wrap="square" lIns="0" tIns="0" rIns="0" bIns="0" rtlCol="0" anchor="t"/>
          <a:lstStyle/>
          <a:p>
            <a:pPr indent="0" marL="0">
              <a:buNone/>
            </a:pPr>
            <a:r>
              <a:rPr lang="en-US" sz="1800" b="1" dirty="0">
                <a:solidFill>
                  <a:srgbClr val="FFFFFF"/>
                </a:solidFill>
              </a:rPr>
              <a:t>Kiểm thử thiết bị thật</a:t>
            </a:r>
            <a:endParaRPr lang="en-US" sz="1800" dirty="0"/>
          </a:p>
        </p:txBody>
      </p:sp>
      <p:sp>
        <p:nvSpPr>
          <p:cNvPr id="14" name="Mô tả bước 2"/>
          <p:cNvSpPr txBox="1"/>
          <p:nvPr/>
        </p:nvSpPr>
        <p:spPr>
          <a:xfrm>
            <a:off x="3520440" y="3154680"/>
            <a:ext cx="2103120" cy="365760"/>
          </a:xfrm>
          <a:prstGeom prst="rect">
            <a:avLst/>
          </a:prstGeom>
          <a:noFill/>
          <a:ln/>
        </p:spPr>
        <p:txBody>
          <a:bodyPr wrap="square" lIns="0" tIns="0" rIns="0" bIns="0" rtlCol="0" anchor="t"/>
          <a:lstStyle/>
          <a:p>
            <a:pPr indent="0" marL="0">
              <a:buNone/>
            </a:pPr>
            <a:r>
              <a:rPr lang="en-US" sz="1400" dirty="0">
                <a:solidFill>
                  <a:srgbClr val="CFCBF5"/>
                </a:solidFill>
              </a:rPr>
              <a:t>Điện thoại, micro</a:t>
            </a:r>
            <a:endParaRPr lang="en-US" sz="1400" dirty="0"/>
          </a:p>
        </p:txBody>
      </p:sp>
      <p:sp>
        <p:nvSpPr>
          <p:cNvPr id="15" name="Khung bước 3"/>
          <p:cNvSpPr/>
          <p:nvPr/>
        </p:nvSpPr>
        <p:spPr>
          <a:xfrm>
            <a:off x="6035040" y="1463040"/>
            <a:ext cx="2514600" cy="2286000"/>
          </a:xfrm>
          <a:prstGeom prst="roundRect">
            <a:avLst>
              <a:gd name="adj" fmla="val 5600"/>
            </a:avLst>
          </a:prstGeom>
          <a:solidFill>
            <a:srgbClr val="1B1840"/>
          </a:solidFill>
          <a:ln w="12700">
            <a:solidFill>
              <a:srgbClr val="6759E8"/>
            </a:solidFill>
            <a:prstDash val="solid"/>
          </a:ln>
        </p:spPr>
      </p:sp>
      <p:sp>
        <p:nvSpPr>
          <p:cNvPr id="16" name="Vòng bước 3"/>
          <p:cNvSpPr/>
          <p:nvPr/>
        </p:nvSpPr>
        <p:spPr>
          <a:xfrm>
            <a:off x="6263640" y="1691640"/>
            <a:ext cx="640080" cy="640080"/>
          </a:xfrm>
          <a:prstGeom prst="ellipse">
            <a:avLst/>
          </a:prstGeom>
          <a:solidFill>
            <a:srgbClr val="6759E8"/>
          </a:solidFill>
          <a:ln w="12700">
            <a:solidFill>
              <a:srgbClr val="6759E8"/>
            </a:solidFill>
            <a:prstDash val="solid"/>
          </a:ln>
        </p:spPr>
      </p:sp>
      <p:pic>
        <p:nvPicPr>
          <p:cNvPr id="17" name="Biểu tượng bước 3" descr="Thêm máy chủ">    </p:cNvPr>
          <p:cNvPicPr>
            <a:picLocks noChangeAspect="1"/>
          </p:cNvPicPr>
          <p:nvPr/>
        </p:nvPicPr>
        <p:blipFill>
          <a:blip r:embed="rId3"/>
          <a:stretch>
            <a:fillRect/>
          </a:stretch>
        </p:blipFill>
        <p:spPr>
          <a:xfrm>
            <a:off x="6428232" y="1856232"/>
            <a:ext cx="310896" cy="310896"/>
          </a:xfrm>
          <a:prstGeom prst="rect">
            <a:avLst/>
          </a:prstGeom>
        </p:spPr>
      </p:pic>
      <p:sp>
        <p:nvSpPr>
          <p:cNvPr id="18" name="Số bước 3"/>
          <p:cNvSpPr txBox="1"/>
          <p:nvPr/>
        </p:nvSpPr>
        <p:spPr>
          <a:xfrm>
            <a:off x="7955280" y="1691640"/>
            <a:ext cx="411480" cy="457200"/>
          </a:xfrm>
          <a:prstGeom prst="rect">
            <a:avLst/>
          </a:prstGeom>
          <a:noFill/>
          <a:ln/>
        </p:spPr>
        <p:txBody>
          <a:bodyPr wrap="square" lIns="0" tIns="0" rIns="0" bIns="0" rtlCol="0" anchor="ctr"/>
          <a:lstStyle/>
          <a:p>
            <a:pPr algn="r" indent="0" marL="0">
              <a:buNone/>
            </a:pPr>
            <a:r>
              <a:rPr lang="en-US" sz="2800" b="1" dirty="0">
                <a:solidFill>
                  <a:srgbClr val="F0B429"/>
                </a:solidFill>
              </a:rPr>
              <a:t>3</a:t>
            </a:r>
            <a:endParaRPr lang="en-US" sz="2800" dirty="0"/>
          </a:p>
        </p:txBody>
      </p:sp>
      <p:sp>
        <p:nvSpPr>
          <p:cNvPr id="19" name="Tên bước 3"/>
          <p:cNvSpPr txBox="1"/>
          <p:nvPr/>
        </p:nvSpPr>
        <p:spPr>
          <a:xfrm>
            <a:off x="6263640" y="2606040"/>
            <a:ext cx="2103120" cy="457200"/>
          </a:xfrm>
          <a:prstGeom prst="rect">
            <a:avLst/>
          </a:prstGeom>
          <a:noFill/>
          <a:ln/>
        </p:spPr>
        <p:txBody>
          <a:bodyPr wrap="square" lIns="0" tIns="0" rIns="0" bIns="0" rtlCol="0" anchor="t"/>
          <a:lstStyle/>
          <a:p>
            <a:pPr indent="0" marL="0">
              <a:buNone/>
            </a:pPr>
            <a:r>
              <a:rPr lang="en-US" sz="1800" b="1" dirty="0">
                <a:solidFill>
                  <a:srgbClr val="FFFFFF"/>
                </a:solidFill>
              </a:rPr>
              <a:t>Thêm máy chủ</a:t>
            </a:r>
            <a:endParaRPr lang="en-US" sz="1800" dirty="0"/>
          </a:p>
        </p:txBody>
      </p:sp>
      <p:sp>
        <p:nvSpPr>
          <p:cNvPr id="20" name="Mô tả bước 3"/>
          <p:cNvSpPr txBox="1"/>
          <p:nvPr/>
        </p:nvSpPr>
        <p:spPr>
          <a:xfrm>
            <a:off x="6263640" y="3154680"/>
            <a:ext cx="2103120" cy="365760"/>
          </a:xfrm>
          <a:prstGeom prst="rect">
            <a:avLst/>
          </a:prstGeom>
          <a:noFill/>
          <a:ln/>
        </p:spPr>
        <p:txBody>
          <a:bodyPr wrap="square" lIns="0" tIns="0" rIns="0" bIns="0" rtlCol="0" anchor="t"/>
          <a:lstStyle/>
          <a:p>
            <a:pPr indent="0" marL="0">
              <a:buNone/>
            </a:pPr>
            <a:r>
              <a:rPr lang="en-US" sz="1400" dirty="0">
                <a:solidFill>
                  <a:srgbClr val="CFCBF5"/>
                </a:solidFill>
              </a:rPr>
              <a:t>Đồng bộ nhóm thật</a:t>
            </a:r>
            <a:endParaRPr lang="en-US" sz="1400" dirty="0"/>
          </a:p>
        </p:txBody>
      </p:sp>
      <p:sp>
        <p:nvSpPr>
          <p:cNvPr id="21" name="Lời cảm ơn"/>
          <p:cNvSpPr txBox="1"/>
          <p:nvPr/>
        </p:nvSpPr>
        <p:spPr>
          <a:xfrm>
            <a:off x="548640" y="4114800"/>
            <a:ext cx="8046720" cy="457200"/>
          </a:xfrm>
          <a:prstGeom prst="rect">
            <a:avLst/>
          </a:prstGeom>
          <a:noFill/>
          <a:ln/>
        </p:spPr>
        <p:txBody>
          <a:bodyPr wrap="square" lIns="0" tIns="0" rIns="0" bIns="0" rtlCol="0" anchor="ctr"/>
          <a:lstStyle/>
          <a:p>
            <a:pPr algn="l" indent="0" marL="0">
              <a:buNone/>
            </a:pPr>
            <a:r>
              <a:rPr lang="en-US" sz="2000" dirty="0">
                <a:solidFill>
                  <a:srgbClr val="FFFFFF"/>
                </a:solidFill>
              </a:rPr>
              <a:t>Cảm ơn thầy cô và các bạn đã lắng nghe</a:t>
            </a:r>
            <a:endParaRPr lang="en-US" sz="2000" dirty="0"/>
          </a:p>
        </p:txBody>
      </p:sp>
    </p:spTree>
  </p:cSld>
  <p:clrMapOvr>
    <a:masterClrMapping/>
  </p:clrMapOvr>
</p:sld>
</file>

<file path=ppt/theme/theme1.xml><?xml version="1.0" encoding="utf-8"?>
<a:theme xmlns:a="http://schemas.openxmlformats.org/drawingml/2006/main" name="Kanban Report">
  <a:themeElements>
    <a:clrScheme name="Kanban Report">
      <a:dk1>
        <a:srgbClr val="1B1840"/>
      </a:dk1>
      <a:lt1>
        <a:srgbClr val="FFFFFF"/>
      </a:lt1>
      <a:dk2>
        <a:srgbClr val="2B2563"/>
      </a:dk2>
      <a:lt2>
        <a:srgbClr val="F3F2FB"/>
      </a:lt2>
      <a:accent1>
        <a:srgbClr val="6759E8"/>
      </a:accent1>
      <a:accent2>
        <a:srgbClr val="3C8D9C"/>
      </a:accent2>
      <a:accent3>
        <a:srgbClr val="F0B429"/>
      </a:accent3>
      <a:accent4>
        <a:srgbClr val="1C9B72"/>
      </a:accent4>
      <a:accent5>
        <a:srgbClr val="D65363"/>
      </a:accent5>
      <a:accent6>
        <a:srgbClr val="3B82D6"/>
      </a:accent6>
      <a:hlink>
        <a:srgbClr val="6759E8"/>
      </a:hlink>
      <a:folHlink>
        <a:srgbClr val="6B7280"/>
      </a:folHlink>
    </a:clrScheme>
    <a:fontScheme name="Kanban Repor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Kanban Board - Báo cáo Sprint 3</dc:title>
  <dc:subject>PptxGenJS Presentation</dc:subject>
  <dc:creator>Nhóm dự án Kanban Board</dc:creator>
  <cp:lastModifiedBy>Nhóm dự án Kanban Board</cp:lastModifiedBy>
  <cp:revision>1</cp:revision>
  <dcterms:created xsi:type="dcterms:W3CDTF">2026-10-26T11:26:05Z</dcterms:created>
  <dcterms:modified xsi:type="dcterms:W3CDTF">2026-10-26T11:26:05Z</dcterms:modified>
</cp:coreProperties>
</file>